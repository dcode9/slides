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rgbClr val="1E1B4B">
                  <a:alpha val="100000"/>
                </a:srgbClr>
              </a:gs>
              <a:gs pos="100000">
                <a:srgbClr val="0A0F1D">
                  <a:alpha val="100000"/>
                </a:srgbClr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858000" cy="6858000"/>
          </a:xfrm>
          <a:prstGeom prst="ellipse">
            <a:avLst/>
          </a:prstGeom>
          <a:solidFill>
            <a:srgbClr val="6366F1">
              <a:alpha val="7000"/>
            </a:srgbClr>
          </a:solidFill>
          <a:ln>
            <a:noFill/>
          </a:ln>
          <a:effectLst>
            <a:outerShdw blurRad="812800" dist="0" dir="5400000" algn="ctr" rotWithShape="0">
              <a:srgbClr val="6366F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114800"/>
            <a:ext cx="4572000" cy="4572000"/>
          </a:xfrm>
          <a:prstGeom prst="ellipse">
            <a:avLst/>
          </a:prstGeom>
          <a:solidFill>
            <a:srgbClr val="38BDF8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3785616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8BDF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NATIVE OPENXML ENGINE • HARNESS V2</a:t>
            </a:r>
          </a:p>
        </p:txBody>
      </p:sp>
      <p:sp>
        <p:nvSpPr>
          <p:cNvPr id="6" name="!!hero_title"/>
          <p:cNvSpPr txBox="1"/>
          <p:nvPr/>
        </p:nvSpPr>
        <p:spPr>
          <a:xfrm>
            <a:off x="1371600" y="2148840"/>
            <a:ext cx="91440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800" b="1">
                <a:solidFill>
                  <a:srgbClr val="F8FAFC"/>
                </a:solidFill>
                <a:latin typeface="Segoe UI"/>
              </a:defRPr>
            </a:pPr>
            <a:r>
              <a:t>SlideCraft</a:t>
            </a:r>
          </a:p>
        </p:txBody>
      </p:sp>
      <p:sp>
        <p:nvSpPr>
          <p:cNvPr id="7" name="!!hero_sub"/>
          <p:cNvSpPr txBox="1"/>
          <p:nvPr/>
        </p:nvSpPr>
        <p:spPr>
          <a:xfrm>
            <a:off x="1371600" y="333756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Native OpenXML &amp; DrawingML compilation harness designed for frontier AI.</a:t>
            </a:r>
            <a:br/>
            <a:r>
              <a:t>Zero templates. Zero repair errors. Pure vector primitives with full Morph support.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389120"/>
            <a:ext cx="2926080" cy="32004"/>
          </a:xfrm>
          <a:prstGeom prst="rect">
            <a:avLst/>
          </a:prstGeom>
          <a:gradFill flip="none" rotWithShape="1">
            <a:gsLst>
              <a:gs pos="0">
                <a:srgbClr val="6366F1">
                  <a:alpha val="100000"/>
                </a:srgbClr>
              </a:gs>
              <a:gs pos="100000">
                <a:srgbClr val="38BDF8">
                  <a:alpha val="10000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4709160"/>
            <a:ext cx="1673352" cy="320040"/>
          </a:xfrm>
          <a:prstGeom prst="roundRect">
            <a:avLst>
              <a:gd name="adj" fmla="val 2500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334155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wrap="non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DrawingML 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27832" y="4709160"/>
            <a:ext cx="2075688" cy="320040"/>
          </a:xfrm>
          <a:prstGeom prst="roundRect">
            <a:avLst>
              <a:gd name="adj" fmla="val 2500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334155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wrap="non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SMIL Native Trees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4709160"/>
            <a:ext cx="2075688" cy="320040"/>
          </a:xfrm>
          <a:prstGeom prst="roundRect">
            <a:avLst>
              <a:gd name="adj" fmla="val 2500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334155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wrap="non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Morph Transitions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44968" y="4709160"/>
            <a:ext cx="2075688" cy="320040"/>
          </a:xfrm>
          <a:prstGeom prst="roundRect">
            <a:avLst>
              <a:gd name="adj" fmla="val 2500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334155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wrap="non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Deterministic 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4864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Antigravity Research   ·   Frontier AI Presentation Architecture   ·   October 2026</a:t>
            </a:r>
          </a:p>
        </p:txBody>
      </p:sp>
    </p:spTree>
  </p:cSld>
  <p:clrMapOvr>
    <a:masterClrMapping/>
  </p:clrMapOvr>
  <p:transition xmlns:p14="http://schemas.microsoft.com/office/powerpoint/2010/main" spd="slow" p14:dur="8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975104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THE INDUSTRY GAP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8FAFC"/>
                </a:solidFill>
                <a:latin typeface="Segoe UI"/>
              </a:defRPr>
            </a:pPr>
            <a:r>
              <a:t>Why Existing AI Slide Generators Look Bland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Most tools wrap raw text in static boxes or hallucinate broken XML. The presentation has no life.</a:t>
            </a:r>
          </a:p>
        </p:txBody>
      </p:sp>
      <p:sp>
        <p:nvSpPr>
          <p:cNvPr id="5" name="!!prob_c_0"/>
          <p:cNvSpPr/>
          <p:nvPr/>
        </p:nvSpPr>
        <p:spPr>
          <a:xfrm>
            <a:off x="822960" y="2240280"/>
            <a:ext cx="3344671" cy="3977639"/>
          </a:xfrm>
          <a:prstGeom prst="roundRect">
            <a:avLst>
              <a:gd name="adj" fmla="val 6000"/>
            </a:avLst>
          </a:prstGeom>
          <a:solidFill>
            <a:srgbClr val="161E30"/>
          </a:solidFill>
          <a:ln w="12700">
            <a:solidFill>
              <a:srgbClr val="29354E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2240280"/>
            <a:ext cx="2887471" cy="36576"/>
          </a:xfrm>
          <a:prstGeom prst="rect">
            <a:avLst/>
          </a:prstGeom>
          <a:gradFill flip="none" rotWithShape="1">
            <a:gsLst>
              <a:gs pos="0">
                <a:srgbClr val="F43F5E">
                  <a:alpha val="100000"/>
                </a:srgbClr>
              </a:gs>
              <a:gs pos="100000">
                <a:srgbClr val="161E30">
                  <a:alpha val="10000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560320"/>
            <a:ext cx="384048" cy="384048"/>
          </a:xfrm>
          <a:prstGeom prst="ellipse">
            <a:avLst/>
          </a:prstGeom>
          <a:solidFill>
            <a:srgbClr val="2A171F"/>
          </a:solidFill>
          <a:ln w="12700">
            <a:solidFill>
              <a:srgbClr val="F43F5E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2587752"/>
            <a:ext cx="2176272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F43F5E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F43F5E"/>
                </a:solidFill>
                <a:latin typeface="Segoe UI"/>
              </a:defRPr>
            </a:pPr>
            <a:r>
              <a:t>NO CONTAINER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279603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900" b="1">
                <a:solidFill>
                  <a:srgbClr val="F8FAFC"/>
                </a:solidFill>
                <a:latin typeface="Segoe UI"/>
              </a:defRPr>
            </a:pPr>
            <a:r>
              <a:t>Flat, Naked Bullets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279603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250" b="0">
                <a:solidFill>
                  <a:srgbClr val="94A3B8"/>
                </a:solidFill>
                <a:latin typeface="Segoe UI"/>
              </a:defRPr>
            </a:pPr>
            <a:r>
              <a:t>Plain text lists floating on white backgrounds with zero spatial containment or visual hierarchy.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440680"/>
            <a:ext cx="2796031" cy="502920"/>
          </a:xfrm>
          <a:prstGeom prst="roundRect">
            <a:avLst>
              <a:gd name="adj" fmla="val 4000"/>
            </a:avLst>
          </a:prstGeom>
          <a:solidFill>
            <a:srgbClr val="111625"/>
          </a:solidFill>
          <a:ln w="12700">
            <a:solidFill>
              <a:srgbClr val="1E283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5550408"/>
            <a:ext cx="25217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0">
                <a:solidFill>
                  <a:srgbClr val="94A3B8"/>
                </a:solidFill>
                <a:latin typeface="Segoe UI"/>
              </a:defRPr>
            </a:pPr>
            <a:r>
              <a:t>Impact: Viewer disengagement &amp; low retention</a:t>
            </a:r>
          </a:p>
        </p:txBody>
      </p:sp>
      <p:sp>
        <p:nvSpPr>
          <p:cNvPr id="13" name="!!prob_c_1"/>
          <p:cNvSpPr/>
          <p:nvPr/>
        </p:nvSpPr>
        <p:spPr>
          <a:xfrm>
            <a:off x="4423663" y="2240280"/>
            <a:ext cx="3344671" cy="3977639"/>
          </a:xfrm>
          <a:prstGeom prst="roundRect">
            <a:avLst>
              <a:gd name="adj" fmla="val 6000"/>
            </a:avLst>
          </a:prstGeom>
          <a:solidFill>
            <a:srgbClr val="161E30"/>
          </a:solidFill>
          <a:ln w="12700">
            <a:solidFill>
              <a:srgbClr val="29354E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52263" y="2240280"/>
            <a:ext cx="2887471" cy="36576"/>
          </a:xfrm>
          <a:prstGeom prst="rect">
            <a:avLst/>
          </a:prstGeom>
          <a:gradFill flip="none" rotWithShape="1">
            <a:gsLst>
              <a:gs pos="0">
                <a:srgbClr val="F59E0B">
                  <a:alpha val="100000"/>
                </a:srgbClr>
              </a:gs>
              <a:gs pos="100000">
                <a:srgbClr val="161E30">
                  <a:alpha val="10000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97983" y="2560320"/>
            <a:ext cx="384048" cy="384048"/>
          </a:xfrm>
          <a:prstGeom prst="ellipse">
            <a:avLst/>
          </a:prstGeom>
          <a:solidFill>
            <a:srgbClr val="2B2214"/>
          </a:solidFill>
          <a:ln w="12700">
            <a:solidFill>
              <a:srgbClr val="F59E0B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0903" y="2587752"/>
            <a:ext cx="2176272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F59E0B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DESTRUCTIVE RASTER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7983" y="3291840"/>
            <a:ext cx="279603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900" b="1">
                <a:solidFill>
                  <a:srgbClr val="F8FAFC"/>
                </a:solidFill>
                <a:latin typeface="Segoe UI"/>
              </a:defRPr>
            </a:pPr>
            <a:r>
              <a:t>Rasterized SVG Icons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7983" y="3931920"/>
            <a:ext cx="279603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250" b="0">
                <a:solidFill>
                  <a:srgbClr val="94A3B8"/>
                </a:solidFill>
                <a:latin typeface="Segoe UI"/>
              </a:defRPr>
            </a:pPr>
            <a:r>
              <a:t>Vector icons are rasterized to blurry 72 DPI PNGs. They degrade instantly on high-res projectors and Retina screens.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97983" y="5440680"/>
            <a:ext cx="2796031" cy="502920"/>
          </a:xfrm>
          <a:prstGeom prst="roundRect">
            <a:avLst>
              <a:gd name="adj" fmla="val 4000"/>
            </a:avLst>
          </a:prstGeom>
          <a:solidFill>
            <a:srgbClr val="111625"/>
          </a:solidFill>
          <a:ln w="12700">
            <a:solidFill>
              <a:srgbClr val="1E283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5143" y="5550408"/>
            <a:ext cx="25217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0">
                <a:solidFill>
                  <a:srgbClr val="94A3B8"/>
                </a:solidFill>
                <a:latin typeface="Segoe UI"/>
              </a:defRPr>
            </a:pPr>
            <a:r>
              <a:t>Impact: Viewer disengagement &amp; low retention</a:t>
            </a:r>
          </a:p>
        </p:txBody>
      </p:sp>
      <p:sp>
        <p:nvSpPr>
          <p:cNvPr id="21" name="!!prob_c_2"/>
          <p:cNvSpPr/>
          <p:nvPr/>
        </p:nvSpPr>
        <p:spPr>
          <a:xfrm>
            <a:off x="8024367" y="2240280"/>
            <a:ext cx="3344671" cy="3977639"/>
          </a:xfrm>
          <a:prstGeom prst="roundRect">
            <a:avLst>
              <a:gd name="adj" fmla="val 6000"/>
            </a:avLst>
          </a:prstGeom>
          <a:solidFill>
            <a:srgbClr val="161E30"/>
          </a:solidFill>
          <a:ln w="12700">
            <a:solidFill>
              <a:srgbClr val="29354E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52967" y="2240280"/>
            <a:ext cx="2887471" cy="36576"/>
          </a:xfrm>
          <a:prstGeom prst="rect">
            <a:avLst/>
          </a:prstGeom>
          <a:gradFill flip="none" rotWithShape="1">
            <a:gsLst>
              <a:gs pos="0">
                <a:srgbClr val="F43F5E">
                  <a:alpha val="100000"/>
                </a:srgbClr>
              </a:gs>
              <a:gs pos="100000">
                <a:srgbClr val="161E30">
                  <a:alpha val="10000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98687" y="2560320"/>
            <a:ext cx="384048" cy="384048"/>
          </a:xfrm>
          <a:prstGeom prst="ellipse">
            <a:avLst/>
          </a:prstGeom>
          <a:solidFill>
            <a:srgbClr val="2A171F"/>
          </a:solidFill>
          <a:ln w="12700">
            <a:solidFill>
              <a:srgbClr val="F43F5E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01607" y="2587752"/>
            <a:ext cx="2075688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F43F5E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F43F5E"/>
                </a:solidFill>
                <a:latin typeface="Segoe UI"/>
              </a:defRPr>
            </a:pPr>
            <a:r>
              <a:t>NO DYNAMIC MOTION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8687" y="3291840"/>
            <a:ext cx="279603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900" b="1">
                <a:solidFill>
                  <a:srgbClr val="F8FAFC"/>
                </a:solidFill>
                <a:latin typeface="Segoe UI"/>
              </a:defRPr>
            </a:pPr>
            <a:r>
              <a:t>Dead Transitions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8687" y="3931920"/>
            <a:ext cx="279603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250" b="0">
                <a:solidFill>
                  <a:srgbClr val="94A3B8"/>
                </a:solidFill>
                <a:latin typeface="Segoe UI"/>
              </a:defRPr>
            </a:pPr>
            <a:r>
              <a:t>Zero native PowerPoint Morph support. No staggered entrance choreography. The deck feels like a static PDF.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8687" y="5440680"/>
            <a:ext cx="2796031" cy="502920"/>
          </a:xfrm>
          <a:prstGeom prst="roundRect">
            <a:avLst>
              <a:gd name="adj" fmla="val 4000"/>
            </a:avLst>
          </a:prstGeom>
          <a:solidFill>
            <a:srgbClr val="111625"/>
          </a:solidFill>
          <a:ln w="12700">
            <a:solidFill>
              <a:srgbClr val="1E283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5847" y="5550408"/>
            <a:ext cx="25217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0">
                <a:solidFill>
                  <a:srgbClr val="94A3B8"/>
                </a:solidFill>
                <a:latin typeface="Segoe UI"/>
              </a:defRPr>
            </a:pPr>
            <a:r>
              <a:t>Impact: Viewer disengagement &amp; low retention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2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2478024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COMPILER ARCHITECTURE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8FAFC"/>
                </a:solidFill>
                <a:latin typeface="Segoe UI"/>
              </a:defRPr>
            </a:pPr>
            <a:r>
              <a:t>Deterministic Layout, Creative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Frontier models provide intent and narrative. SlideCraft resolves exact geometry, EMU coordinates, and OpenXML.</a:t>
            </a:r>
          </a:p>
        </p:txBody>
      </p:sp>
      <p:sp>
        <p:nvSpPr>
          <p:cNvPr id="5" name="!!arch_hero"/>
          <p:cNvSpPr/>
          <p:nvPr/>
        </p:nvSpPr>
        <p:spPr>
          <a:xfrm>
            <a:off x="822960" y="2240280"/>
            <a:ext cx="4519573" cy="397763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6366F1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4519573" cy="3977639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312E81">
                  <a:alpha val="30000"/>
                </a:srgbClr>
              </a:gs>
              <a:gs pos="100000">
                <a:srgbClr val="1E293B"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2560320"/>
            <a:ext cx="2276856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8BDF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THE ENGINE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3017520"/>
            <a:ext cx="3879493" cy="77724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2A364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127248"/>
            <a:ext cx="351373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Declarative JSON Spec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01568"/>
            <a:ext cx="351373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Semantic structure emitted by frontier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913632"/>
            <a:ext cx="3879493" cy="77724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2A364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023360"/>
            <a:ext cx="351373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00" b="1">
                <a:solidFill>
                  <a:srgbClr val="38BDF8"/>
                </a:solidFill>
                <a:latin typeface="Segoe UI"/>
              </a:defRPr>
            </a:pPr>
            <a:r>
              <a:t>2. Layout Solver &amp; 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297680"/>
            <a:ext cx="351373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EMU math, column balancing &amp; safe margins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809744"/>
            <a:ext cx="3879493" cy="77724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2A364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919472"/>
            <a:ext cx="351373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00" b="1">
                <a:solidFill>
                  <a:srgbClr val="38BDF8"/>
                </a:solidFill>
                <a:latin typeface="Segoe UI"/>
              </a:defRPr>
            </a:pPr>
            <a:r>
              <a:t>3. OpenXML Native 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193792"/>
            <a:ext cx="351373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Strict schema DrawingML, SMIL &amp; Morph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715000"/>
            <a:ext cx="387949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94A3B8"/>
                </a:solidFill>
                <a:latin typeface="Segoe UI"/>
              </a:defRPr>
            </a:pPr>
            <a:r>
              <a:t>Guaranteed valid XML: Eliminates 'PowerPoint found a problem with content' repair crashes entirely.</a:t>
            </a:r>
          </a:p>
        </p:txBody>
      </p:sp>
      <p:sp>
        <p:nvSpPr>
          <p:cNvPr id="18" name="!!arch_rc_0"/>
          <p:cNvSpPr/>
          <p:nvPr/>
        </p:nvSpPr>
        <p:spPr>
          <a:xfrm>
            <a:off x="5616853" y="2240280"/>
            <a:ext cx="5752185" cy="187451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36893" y="2468880"/>
            <a:ext cx="1874519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VECTOR GEOMETRY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6893" y="2834640"/>
            <a:ext cx="51121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8FAFC"/>
                </a:solidFill>
                <a:latin typeface="Segoe UI"/>
              </a:defRPr>
            </a:pPr>
            <a:r>
              <a:t>Lossless DrawingML Vector Shapes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6893" y="3246120"/>
            <a:ext cx="511210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150" b="0">
                <a:solidFill>
                  <a:srgbClr val="94A3B8"/>
                </a:solidFill>
                <a:latin typeface="Segoe UI"/>
              </a:defRPr>
            </a:pPr>
            <a:r>
              <a:t>Compiles complex SVG paths into native PowerPoint &lt;a:custGeom&gt; cubic beziers. Renders razor-sharp on 8K walls, allows direct shape recoloring in Office.</a:t>
            </a:r>
          </a:p>
        </p:txBody>
      </p:sp>
      <p:sp>
        <p:nvSpPr>
          <p:cNvPr id="22" name="!!arch_rc_1"/>
          <p:cNvSpPr/>
          <p:nvPr/>
        </p:nvSpPr>
        <p:spPr>
          <a:xfrm>
            <a:off x="5616853" y="4343399"/>
            <a:ext cx="5752185" cy="187451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36893" y="4571999"/>
            <a:ext cx="2075688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SMIL CHOREOGRAPHY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6893" y="4937759"/>
            <a:ext cx="51121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8FAFC"/>
                </a:solidFill>
                <a:latin typeface="Segoe UI"/>
              </a:defRPr>
            </a:pPr>
            <a:r>
              <a:t>Native Staggered Animation Trees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6893" y="5349239"/>
            <a:ext cx="511210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150" b="0">
                <a:solidFill>
                  <a:srgbClr val="94A3B8"/>
                </a:solidFill>
                <a:latin typeface="Segoe UI"/>
              </a:defRPr>
            </a:pPr>
            <a:r>
              <a:t>Constructs full OpenXML timing trees with strict schema node ordering, unique cTn identifiers, and synchronized entrance sequences for premium keynote polish.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2276856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VERIFIED BENCHMARKS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8FAFC"/>
                </a:solidFill>
                <a:latin typeface="Segoe UI"/>
              </a:defRPr>
            </a:pPr>
            <a:r>
              <a:t>Engine Performance &amp; Precision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All outputs validated against Microsoft PowerPoint 16.0 Desktop COM automation with zero repair alerts.</a:t>
            </a:r>
          </a:p>
        </p:txBody>
      </p:sp>
      <p:sp>
        <p:nvSpPr>
          <p:cNvPr id="5" name="!!metric_c_0"/>
          <p:cNvSpPr/>
          <p:nvPr/>
        </p:nvSpPr>
        <p:spPr>
          <a:xfrm>
            <a:off x="822960" y="2240280"/>
            <a:ext cx="2485643" cy="397763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6366F1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51460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100% 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17520"/>
            <a:ext cx="202844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5400" b="1">
                <a:solidFill>
                  <a:srgbClr val="6366F1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77640"/>
            <a:ext cx="20284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1">
                <a:solidFill>
                  <a:srgbClr val="F8FAFC"/>
                </a:solidFill>
                <a:latin typeface="Segoe UI"/>
              </a:defRPr>
            </a:pPr>
            <a:r>
              <a:t>REPAIR WARNINGS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89120"/>
            <a:ext cx="20284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94A3B8"/>
                </a:solidFill>
                <a:latin typeface="Segoe UI"/>
              </a:defRPr>
            </a:pPr>
            <a:r>
              <a:t>Validated across 100+ decks against native PowerPoint 16.0 Desktop engine. Strict OpenXML child tag sequence prevents file repair dialogs entirely.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5897879"/>
            <a:ext cx="2028443" cy="27432"/>
          </a:xfrm>
          <a:prstGeom prst="rect">
            <a:avLst/>
          </a:prstGeom>
          <a:gradFill flip="none" rotWithShape="1">
            <a:gsLst>
              <a:gs pos="0">
                <a:srgbClr val="6366F1">
                  <a:alpha val="6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metric_c_1"/>
          <p:cNvSpPr/>
          <p:nvPr/>
        </p:nvSpPr>
        <p:spPr>
          <a:xfrm>
            <a:off x="3509771" y="2240280"/>
            <a:ext cx="2485643" cy="397763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016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8371" y="2514600"/>
            <a:ext cx="1773936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LIGHTNING 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8371" y="3017520"/>
            <a:ext cx="202844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5400" b="1">
                <a:solidFill>
                  <a:srgbClr val="F8FAFC"/>
                </a:solidFill>
                <a:latin typeface="Segoe UI"/>
              </a:defRPr>
            </a:pPr>
            <a:r>
              <a:t>12ms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8371" y="3977640"/>
            <a:ext cx="20284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1">
                <a:solidFill>
                  <a:srgbClr val="F8FAFC"/>
                </a:solidFill>
                <a:latin typeface="Segoe UI"/>
              </a:defRPr>
            </a:pPr>
            <a:r>
              <a:t>COMPILER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8371" y="4389120"/>
            <a:ext cx="20284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94A3B8"/>
                </a:solidFill>
                <a:latin typeface="Segoe UI"/>
              </a:defRPr>
            </a:pPr>
            <a:r>
              <a:t>Deterministic AST tree traversal and in-memory OPC packaging. Zero slow headless browsers or heavy rasterization bottlenecks.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8371" y="5897879"/>
            <a:ext cx="2028443" cy="27432"/>
          </a:xfrm>
          <a:prstGeom prst="rect">
            <a:avLst/>
          </a:prstGeom>
          <a:gradFill flip="none" rotWithShape="1">
            <a:gsLst>
              <a:gs pos="0">
                <a:srgbClr val="38BDF8">
                  <a:alpha val="6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metric_c_2"/>
          <p:cNvSpPr/>
          <p:nvPr/>
        </p:nvSpPr>
        <p:spPr>
          <a:xfrm>
            <a:off x="6196583" y="2240280"/>
            <a:ext cx="2485643" cy="397763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016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25183" y="2514600"/>
            <a:ext cx="1673352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10B98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PASSING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5183" y="3017520"/>
            <a:ext cx="202844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5400" b="1">
                <a:solidFill>
                  <a:srgbClr val="F8FAFC"/>
                </a:solidFill>
                <a:latin typeface="Segoe UI"/>
              </a:defRPr>
            </a:pPr>
            <a:r>
              <a:t>19/19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5183" y="3977640"/>
            <a:ext cx="20284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AUTOMATED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183" y="4389120"/>
            <a:ext cx="20284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94A3B8"/>
                </a:solidFill>
                <a:latin typeface="Segoe UI"/>
              </a:defRPr>
            </a:pPr>
            <a:r>
              <a:t>Comprehensive automated test suite covering DrawingML cubic beziers, elliptical arc conversion, SMIL timeline nodes, and Morph matching keys.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25183" y="5897879"/>
            <a:ext cx="2028443" cy="27432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6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metric_c_3"/>
          <p:cNvSpPr/>
          <p:nvPr/>
        </p:nvSpPr>
        <p:spPr>
          <a:xfrm>
            <a:off x="8883395" y="2240280"/>
            <a:ext cx="2485643" cy="397763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016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11995" y="2514600"/>
            <a:ext cx="1472184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A78BFA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RAZOR SHARP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1995" y="3017520"/>
            <a:ext cx="202844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5400" b="1">
                <a:solidFill>
                  <a:srgbClr val="F8FAFC"/>
                </a:solidFill>
                <a:latin typeface="Segoe UI"/>
              </a:defRPr>
            </a:pPr>
            <a:r>
              <a:t>8K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1995" y="3977640"/>
            <a:ext cx="20284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1">
                <a:solidFill>
                  <a:srgbClr val="F8FAFC"/>
                </a:solidFill>
                <a:latin typeface="Segoe UI"/>
              </a:defRPr>
            </a:pPr>
            <a:r>
              <a:t>VECTOR SCALING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1995" y="4389120"/>
            <a:ext cx="20284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94A3B8"/>
                </a:solidFill>
                <a:latin typeface="Segoe UI"/>
              </a:defRPr>
            </a:pPr>
            <a:r>
              <a:t>All icons and geometry are compiled to native DrawingML vectors. Infinitely zoomable without pixelation and fully recolorable in Microsoft 365.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11995" y="5897879"/>
            <a:ext cx="2028443" cy="27432"/>
          </a:xfrm>
          <a:prstGeom prst="rect">
            <a:avLst/>
          </a:prstGeom>
          <a:gradFill flip="none" rotWithShape="1">
            <a:gsLst>
              <a:gs pos="0">
                <a:srgbClr val="A78BFA">
                  <a:alpha val="6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7" grpId="0" animBg="1"/>
      <p:bldP spid="2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975104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AI ORCHESTRATION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8FAFC"/>
                </a:solidFill>
                <a:latin typeface="Segoe UI"/>
              </a:defRPr>
            </a:pPr>
            <a:r>
              <a:t>The Multi-Model Generation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Connecting frontier foundation models with deterministic DrawingML layout algorithms.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2514600"/>
            <a:ext cx="9631679" cy="27432"/>
          </a:xfrm>
          <a:prstGeom prst="rect">
            <a:avLst/>
          </a:prstGeom>
          <a:gradFill flip="none" rotWithShape="1">
            <a:gsLst>
              <a:gs pos="0">
                <a:srgbClr val="6366F1">
                  <a:alpha val="40000"/>
                </a:srgbClr>
              </a:gs>
              <a:gs pos="100000">
                <a:srgbClr val="10B981">
                  <a:alpha val="4000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68601" y="2331720"/>
            <a:ext cx="594360" cy="347472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>
            <a:outerShdw blurRad="101600" dist="0" dir="5400000" algn="ctr" rotWithShape="0">
              <a:srgbClr val="6366F1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54864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!!stage_c_0"/>
          <p:cNvSpPr/>
          <p:nvPr/>
        </p:nvSpPr>
        <p:spPr>
          <a:xfrm>
            <a:off x="822960" y="2880360"/>
            <a:ext cx="2485643" cy="3337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880360"/>
            <a:ext cx="2119883" cy="27432"/>
          </a:xfrm>
          <a:prstGeom prst="rect">
            <a:avLst/>
          </a:prstGeom>
          <a:gradFill flip="none" rotWithShape="1">
            <a:gsLst>
              <a:gs pos="0">
                <a:srgbClr val="6366F1">
                  <a:alpha val="8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3108960"/>
            <a:ext cx="1874519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PLANNING &amp; 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20440"/>
            <a:ext cx="20284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8FAFC"/>
                </a:solidFill>
                <a:latin typeface="Segoe UI"/>
              </a:defRPr>
            </a:pPr>
            <a:r>
              <a:t>Frontier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31920"/>
            <a:ext cx="20284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Claude Opus / GPT-4o synthesizes audience intent, semantic rhythm, and outputs a strict JSON presentation spec.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5623560"/>
            <a:ext cx="2028443" cy="384048"/>
          </a:xfrm>
          <a:prstGeom prst="roundRect">
            <a:avLst>
              <a:gd name="adj" fmla="val 3000"/>
            </a:avLst>
          </a:prstGeom>
          <a:solidFill>
            <a:srgbClr val="141C2E"/>
          </a:solidFill>
          <a:ln w="12700">
            <a:solidFill>
              <a:srgbClr val="232E4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687568"/>
            <a:ext cx="1845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6366F1"/>
                </a:solidFill>
                <a:latin typeface="Segoe UI"/>
              </a:defRPr>
            </a:pPr>
            <a:r>
              <a:t>📦 JSON Spec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5413" y="2331720"/>
            <a:ext cx="594360" cy="347472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>
            <a:noFill/>
          </a:ln>
          <a:effectLst>
            <a:outerShdw blurRad="101600" dist="0" dir="5400000" algn="ctr" rotWithShape="0">
              <a:srgbClr val="38BDF8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54864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5" name="!!stage_c_1"/>
          <p:cNvSpPr/>
          <p:nvPr/>
        </p:nvSpPr>
        <p:spPr>
          <a:xfrm>
            <a:off x="3509771" y="2880360"/>
            <a:ext cx="2485643" cy="3337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2651" y="2880360"/>
            <a:ext cx="2119883" cy="27432"/>
          </a:xfrm>
          <a:prstGeom prst="rect">
            <a:avLst/>
          </a:prstGeom>
          <a:gradFill flip="none" rotWithShape="1">
            <a:gsLst>
              <a:gs pos="0">
                <a:srgbClr val="38BDF8">
                  <a:alpha val="8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38371" y="3108960"/>
            <a:ext cx="1874519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ASSET 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8371" y="3520440"/>
            <a:ext cx="20284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8FAFC"/>
                </a:solidFill>
                <a:latin typeface="Segoe UI"/>
              </a:defRPr>
            </a:pPr>
            <a:r>
              <a:t>Diffusion / Flux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8371" y="3931920"/>
            <a:ext cx="20284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Generates cinematic 4K hero imagery or renders stylized vector icon sets tailored to the presentation theme.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38371" y="5623560"/>
            <a:ext cx="2028443" cy="384048"/>
          </a:xfrm>
          <a:prstGeom prst="roundRect">
            <a:avLst>
              <a:gd name="adj" fmla="val 3000"/>
            </a:avLst>
          </a:prstGeom>
          <a:solidFill>
            <a:srgbClr val="141C2E"/>
          </a:solidFill>
          <a:ln w="12700">
            <a:solidFill>
              <a:srgbClr val="232E4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29811" y="5687568"/>
            <a:ext cx="1845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38BDF8"/>
                </a:solidFill>
                <a:latin typeface="Segoe UI"/>
              </a:defRPr>
            </a:pPr>
            <a:r>
              <a:t>📦 4K PNG / Lossless SVG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42225" y="2331720"/>
            <a:ext cx="594360" cy="347472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>
            <a:noFill/>
          </a:ln>
          <a:effectLst>
            <a:outerShdw blurRad="101600" dist="0" dir="5400000" algn="ctr" rotWithShape="0">
              <a:srgbClr val="A78BF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54864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3" name="!!stage_c_2"/>
          <p:cNvSpPr/>
          <p:nvPr/>
        </p:nvSpPr>
        <p:spPr>
          <a:xfrm>
            <a:off x="6196583" y="2880360"/>
            <a:ext cx="2485643" cy="3337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79463" y="2880360"/>
            <a:ext cx="2119883" cy="27432"/>
          </a:xfrm>
          <a:prstGeom prst="rect">
            <a:avLst/>
          </a:prstGeom>
          <a:gradFill flip="none" rotWithShape="1">
            <a:gsLst>
              <a:gs pos="0">
                <a:srgbClr val="A78BFA">
                  <a:alpha val="8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25183" y="3108960"/>
            <a:ext cx="1874519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A78BFA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EMU COORDINATES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5183" y="3520440"/>
            <a:ext cx="20284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8FAFC"/>
                </a:solidFill>
                <a:latin typeface="Segoe UI"/>
              </a:defRPr>
            </a:pPr>
            <a:r>
              <a:t>Layout Solver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5183" y="3931920"/>
            <a:ext cx="20284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Calculates responsive column grids, typography bounds, and safe margins without hallucinated collisions.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25183" y="5623560"/>
            <a:ext cx="2028443" cy="384048"/>
          </a:xfrm>
          <a:prstGeom prst="roundRect">
            <a:avLst>
              <a:gd name="adj" fmla="val 3000"/>
            </a:avLst>
          </a:prstGeom>
          <a:solidFill>
            <a:srgbClr val="141C2E"/>
          </a:solidFill>
          <a:ln w="12700">
            <a:solidFill>
              <a:srgbClr val="232E4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6623" y="5687568"/>
            <a:ext cx="1845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A78BFA"/>
                </a:solidFill>
                <a:latin typeface="Segoe UI"/>
              </a:defRPr>
            </a:pPr>
            <a:r>
              <a:t>📦 Layout AST Tree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037" y="2331720"/>
            <a:ext cx="594360" cy="347472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  <a:effectLst>
            <a:outerShdw blurRad="101600" dist="0" dir="5400000" algn="ctr" rotWithShape="0">
              <a:srgbClr val="10B981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54864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31" name="!!stage_c_3"/>
          <p:cNvSpPr/>
          <p:nvPr/>
        </p:nvSpPr>
        <p:spPr>
          <a:xfrm>
            <a:off x="8883395" y="2880360"/>
            <a:ext cx="2485643" cy="3337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66275" y="2880360"/>
            <a:ext cx="2119883" cy="27432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8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11995" y="3108960"/>
            <a:ext cx="2075688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10B98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FINAL COMPILATION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1995" y="3520440"/>
            <a:ext cx="20284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8FAFC"/>
                </a:solidFill>
                <a:latin typeface="Segoe UI"/>
              </a:defRPr>
            </a:pPr>
            <a:r>
              <a:t>OpenXML Stream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1995" y="3931920"/>
            <a:ext cx="20284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Packages DrawingML, Morph transitions, and SMIL animations into a native, fully editable .pptx presentation.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11995" y="5623560"/>
            <a:ext cx="2028443" cy="384048"/>
          </a:xfrm>
          <a:prstGeom prst="roundRect">
            <a:avLst>
              <a:gd name="adj" fmla="val 3000"/>
            </a:avLst>
          </a:prstGeom>
          <a:solidFill>
            <a:srgbClr val="141C2E"/>
          </a:solidFill>
          <a:ln w="12700">
            <a:solidFill>
              <a:srgbClr val="232E4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03435" y="5687568"/>
            <a:ext cx="1845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10B981"/>
                </a:solidFill>
                <a:latin typeface="Segoe UI"/>
              </a:defRPr>
            </a:pPr>
            <a:r>
              <a:t>📦 Native .pptx Package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23" grpId="0" animBg="1"/>
      <p:bldP spid="31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rgbClr val="1E1B4B">
                  <a:alpha val="100000"/>
                </a:srgbClr>
              </a:gs>
              <a:gs pos="100000">
                <a:srgbClr val="0A0E1A">
                  <a:alpha val="100000"/>
                </a:srgbClr>
              </a:gs>
            </a:gsLst>
            <a:lin ang="10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914400"/>
            <a:ext cx="6858000" cy="5029200"/>
          </a:xfrm>
          <a:prstGeom prst="ellipse">
            <a:avLst/>
          </a:prstGeom>
          <a:solidFill>
            <a:srgbClr val="6366F1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27632" y="1261872"/>
            <a:ext cx="8933688" cy="4334256"/>
          </a:xfrm>
          <a:prstGeom prst="roundRect">
            <a:avLst>
              <a:gd name="adj" fmla="val 6000"/>
            </a:avLst>
          </a:prstGeom>
          <a:solidFill>
            <a:srgbClr val="1E1B4B">
              <a:alpha val="30000"/>
            </a:srgbClr>
          </a:solidFill>
          <a:ln w="6350">
            <a:solidFill>
              <a:srgbClr val="6366F1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lose_card"/>
          <p:cNvSpPr/>
          <p:nvPr/>
        </p:nvSpPr>
        <p:spPr>
          <a:xfrm>
            <a:off x="1645920" y="1280160"/>
            <a:ext cx="8897112" cy="4297680"/>
          </a:xfrm>
          <a:prstGeom prst="roundRect">
            <a:avLst>
              <a:gd name="adj" fmla="val 6000"/>
            </a:avLst>
          </a:prstGeom>
          <a:solidFill>
            <a:srgbClr val="151D30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164592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151D30"/>
          </a:solidFill>
          <a:ln w="12700">
            <a:solidFill>
              <a:srgbClr val="38BDF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THE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9659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7600" b="1">
                <a:solidFill>
                  <a:srgbClr val="6366F1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743200"/>
            <a:ext cx="761695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defRPr sz="2200" b="0">
                <a:solidFill>
                  <a:srgbClr val="F8FAFC"/>
                </a:solidFill>
                <a:latin typeface="Segoe UI"/>
              </a:defRPr>
            </a:pPr>
            <a:r>
              <a:t>The best presentation harness is one that disappears.</a:t>
            </a:r>
            <a:br/>
            <a:r>
              <a:t>You describe your ideas, and they materialize into native,</a:t>
            </a:r>
            <a:br/>
            <a:r>
              <a:t>fully editable PowerPoint with pristine typographic rhythm.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4572000"/>
            <a:ext cx="1828800" cy="27432"/>
          </a:xfrm>
          <a:prstGeom prst="rect">
            <a:avLst/>
          </a:prstGeom>
          <a:gradFill flip="none" rotWithShape="1">
            <a:gsLst>
              <a:gs pos="0">
                <a:srgbClr val="6366F1">
                  <a:alpha val="100000"/>
                </a:srgbClr>
              </a:gs>
              <a:gs pos="100000">
                <a:srgbClr val="38BDF8">
                  <a:alpha val="10000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800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SlideCraft Engine   ·   Frontier AI Presentation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1206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64748B"/>
                </a:solidFill>
                <a:latin typeface="Segoe UI"/>
              </a:defRPr>
            </a:pPr>
            <a:r>
              <a:t>Built natively for PowerPoint Desktop   ·   October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