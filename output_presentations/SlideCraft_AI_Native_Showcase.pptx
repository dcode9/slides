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121826"/>
          </a:solidFill>
          <a:ln w="12700">
            <a:solidFill>
              <a:srgbClr val="00F0FF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sikkim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297680" cy="4114800"/>
          </a:xfrm>
          <a:prstGeom prst="rect">
            <a:avLst/>
          </a:prstGeom>
          <a:ln w="12700">
            <a:solidFill>
              <a:srgbClr val="1F293D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</p:pic>
      <p:sp>
        <p:nvSpPr>
          <p:cNvPr id="4" name="Rounded Rectangle 3"/>
          <p:cNvSpPr/>
          <p:nvPr/>
        </p:nvSpPr>
        <p:spPr>
          <a:xfrm>
            <a:off x="822960" y="1645920"/>
            <a:ext cx="288036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AUTONOMOUS DESIGN HARNESS</a:t>
            </a:r>
          </a:p>
        </p:txBody>
      </p:sp>
      <p:sp>
        <p:nvSpPr>
          <p:cNvPr id="5" name="!!hero_title"/>
          <p:cNvSpPr txBox="1"/>
          <p:nvPr/>
        </p:nvSpPr>
        <p:spPr>
          <a:xfrm>
            <a:off x="822960" y="219456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F9FAFB"/>
                </a:solidFill>
                <a:latin typeface="Segoe UI"/>
              </a:defRPr>
            </a:pPr>
            <a:r>
              <a:t>Engineering Native Presentations with AI</a:t>
            </a:r>
          </a:p>
        </p:txBody>
      </p:sp>
      <p:sp>
        <p:nvSpPr>
          <p:cNvPr id="6" name="!!hero_subtitle"/>
          <p:cNvSpPr txBox="1"/>
          <p:nvPr/>
        </p:nvSpPr>
        <p:spPr>
          <a:xfrm>
            <a:off x="822960" y="374904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Bypassing legacy template engines to compile OpenXML DrawingML, SMIL animations, and fluid Morph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Antigravity Research Labs   •   October 2026   •   SLIDECRAFT V2.0</a:t>
            </a:r>
          </a:p>
        </p:txBody>
      </p:sp>
    </p:spTree>
  </p:cSld>
  <p:clrMapOvr>
    <a:masterClrMapping/>
  </p:clrMapOvr>
  <p:transition xmlns:p14="http://schemas.microsoft.com/office/powerpoint/2010/main" spd="slow" p14:dur="12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3584448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PERFORMANCE &amp; QUALITY BENCHMARKS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Zero Repair Errors. Pure Native DrawingML.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Rigorous compilation benchmarks across 1,000 stress-tested presentations.</a:t>
            </a:r>
          </a:p>
        </p:txBody>
      </p:sp>
      <p:sp>
        <p:nvSpPr>
          <p:cNvPr id="5" name="!!metric_col_0"/>
          <p:cNvSpPr/>
          <p:nvPr/>
        </p:nvSpPr>
        <p:spPr>
          <a:xfrm>
            <a:off x="822960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2000" y="22000"/>
                  <a:pt x="20000" y="18000"/>
                  <a:pt x="20000" y="12000"/>
                </a:cubicBezTo>
                <a:lnTo>
                  <a:pt x="20000" y="5000"/>
                </a:lnTo>
                <a:lnTo>
                  <a:pt x="12000" y="2000"/>
                </a:lnTo>
                <a:lnTo>
                  <a:pt x="4000" y="5000"/>
                </a:lnTo>
                <a:lnTo>
                  <a:pt x="4000" y="12000"/>
                </a:lnTo>
                <a:cubicBezTo>
                  <a:pt x="4000" y="18000"/>
                  <a:pt x="12000" y="22000"/>
                  <a:pt x="12000" y="2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89479" y="25146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100% 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XML SCHEMA CORRUPTIONS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Strict element ordering adheres to ISO/IEC 29500-1 specification.</a:t>
            </a:r>
          </a:p>
        </p:txBody>
      </p:sp>
      <p:sp>
        <p:nvSpPr>
          <p:cNvPr id="12" name="!!metric_col_1"/>
          <p:cNvSpPr/>
          <p:nvPr/>
        </p:nvSpPr>
        <p:spPr>
          <a:xfrm>
            <a:off x="44297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3787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9799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3000" y="2000"/>
                </a:moveTo>
                <a:lnTo>
                  <a:pt x="3000" y="14000"/>
                </a:lnTo>
                <a:lnTo>
                  <a:pt x="12000" y="14000"/>
                </a:lnTo>
                <a:lnTo>
                  <a:pt x="11000" y="22000"/>
                </a:lnTo>
                <a:lnTo>
                  <a:pt x="21000" y="10000"/>
                </a:lnTo>
                <a:lnTo>
                  <a:pt x="12000" y="10000"/>
                </a:lnTo>
                <a:lnTo>
                  <a:pt x="13000" y="2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96279" y="25146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SUB-SECOND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7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9FAFB"/>
                </a:solidFill>
                <a:latin typeface="Segoe UI"/>
              </a:defRPr>
            </a:pPr>
            <a:r>
              <a:t>12ms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7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GENERATION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97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Direct memory compilation without slow PowerPoint headless browser renders.</a:t>
            </a:r>
          </a:p>
        </p:txBody>
      </p:sp>
      <p:sp>
        <p:nvSpPr>
          <p:cNvPr id="19" name="!!metric_col_2"/>
          <p:cNvSpPr/>
          <p:nvPr/>
        </p:nvSpPr>
        <p:spPr>
          <a:xfrm>
            <a:off x="80365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0587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6599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4000" y="4000"/>
                </a:moveTo>
                <a:lnTo>
                  <a:pt x="20000" y="4000"/>
                </a:lnTo>
                <a:lnTo>
                  <a:pt x="20000" y="20000"/>
                </a:lnTo>
                <a:lnTo>
                  <a:pt x="4000" y="20000"/>
                </a:lnTo>
                <a:close/>
                <a:moveTo>
                  <a:pt x="9000" y="9000"/>
                </a:moveTo>
                <a:lnTo>
                  <a:pt x="15000" y="9000"/>
                </a:lnTo>
                <a:lnTo>
                  <a:pt x="15000" y="15000"/>
                </a:lnTo>
                <a:lnTo>
                  <a:pt x="9000" y="15000"/>
                </a:lnTo>
                <a:close/>
                <a:moveTo>
                  <a:pt x="9000" y="1000"/>
                </a:moveTo>
                <a:lnTo>
                  <a:pt x="9000" y="4000"/>
                </a:lnTo>
                <a:moveTo>
                  <a:pt x="15000" y="1000"/>
                </a:moveTo>
                <a:lnTo>
                  <a:pt x="15000" y="4000"/>
                </a:lnTo>
                <a:moveTo>
                  <a:pt x="9000" y="20000"/>
                </a:moveTo>
                <a:lnTo>
                  <a:pt x="9000" y="23000"/>
                </a:lnTo>
                <a:moveTo>
                  <a:pt x="15000" y="20000"/>
                </a:moveTo>
                <a:lnTo>
                  <a:pt x="15000" y="23000"/>
                </a:lnTo>
                <a:moveTo>
                  <a:pt x="20000" y="9000"/>
                </a:moveTo>
                <a:lnTo>
                  <a:pt x="23000" y="9000"/>
                </a:lnTo>
                <a:moveTo>
                  <a:pt x="20000" y="14000"/>
                </a:moveTo>
                <a:lnTo>
                  <a:pt x="23000" y="14000"/>
                </a:lnTo>
                <a:moveTo>
                  <a:pt x="1000" y="9000"/>
                </a:moveTo>
                <a:lnTo>
                  <a:pt x="4000" y="9000"/>
                </a:lnTo>
                <a:moveTo>
                  <a:pt x="1000" y="14000"/>
                </a:moveTo>
                <a:lnTo>
                  <a:pt x="4000" y="14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3079" y="251460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LOSSLESS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5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9FAFB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5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NATIVE VECTOR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5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SVG cubic bezier &amp; elliptical arc path conversion directly to custom geometry.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37744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MODULAR ARCHITECTURE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Asymmetric Spatial Bento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Guiding audience attention through structured visual containers rather than bare bullets.</a:t>
            </a:r>
          </a:p>
        </p:txBody>
      </p:sp>
      <p:sp>
        <p:nvSpPr>
          <p:cNvPr id="5" name="!!bento_hero"/>
          <p:cNvSpPr/>
          <p:nvPr/>
        </p:nvSpPr>
        <p:spPr>
          <a:xfrm>
            <a:off x="822960" y="2194560"/>
            <a:ext cx="4519573" cy="40233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lnTo>
                  <a:pt x="13912" y="8885"/>
                </a:lnTo>
                <a:lnTo>
                  <a:pt x="20000" y="10800"/>
                </a:lnTo>
                <a:lnTo>
                  <a:pt x="15146" y="14530"/>
                </a:lnTo>
                <a:lnTo>
                  <a:pt x="17000" y="20600"/>
                </a:lnTo>
                <a:lnTo>
                  <a:pt x="12000" y="16854"/>
                </a:lnTo>
                <a:lnTo>
                  <a:pt x="7000" y="20600"/>
                </a:lnTo>
                <a:lnTo>
                  <a:pt x="8854" y="14530"/>
                </a:lnTo>
                <a:lnTo>
                  <a:pt x="4000" y="10800"/>
                </a:lnTo>
                <a:lnTo>
                  <a:pt x="10088" y="8885"/>
                </a:lnTo>
                <a:lnTo>
                  <a:pt x="12000" y="3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387949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38794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VECTOR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38794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Converts standard SVG path coordinates into integer DrawingML path units with zero raster pixelation.</a:t>
            </a:r>
          </a:p>
        </p:txBody>
      </p:sp>
      <p:sp>
        <p:nvSpPr>
          <p:cNvPr id="11" name="!!bento_card_top"/>
          <p:cNvSpPr/>
          <p:nvPr/>
        </p:nvSpPr>
        <p:spPr>
          <a:xfrm>
            <a:off x="5616853" y="219456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7165" y="24048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6893" y="25146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lnTo>
                  <a:pt x="2000" y="7000"/>
                </a:lnTo>
                <a:lnTo>
                  <a:pt x="12000" y="12000"/>
                </a:lnTo>
                <a:lnTo>
                  <a:pt x="22000" y="7000"/>
                </a:lnTo>
                <a:lnTo>
                  <a:pt x="12000" y="2000"/>
                </a:lnTo>
                <a:close/>
                <a:moveTo>
                  <a:pt x="2000" y="17000"/>
                </a:moveTo>
                <a:lnTo>
                  <a:pt x="12000" y="22000"/>
                </a:lnTo>
                <a:lnTo>
                  <a:pt x="22000" y="17000"/>
                </a:lnTo>
                <a:moveTo>
                  <a:pt x="2000" y="12000"/>
                </a:moveTo>
                <a:lnTo>
                  <a:pt x="12000" y="17000"/>
                </a:lnTo>
                <a:lnTo>
                  <a:pt x="22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36893" y="3108960"/>
            <a:ext cx="1773936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SPATIAL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893" y="3474720"/>
            <a:ext cx="511210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Native Morph Interpolation</a:t>
            </a:r>
          </a:p>
        </p:txBody>
      </p:sp>
      <p:sp>
        <p:nvSpPr>
          <p:cNvPr id="16" name="!!bento_card_bot"/>
          <p:cNvSpPr/>
          <p:nvPr/>
        </p:nvSpPr>
        <p:spPr>
          <a:xfrm>
            <a:off x="5616853" y="434340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7165" y="455371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6893" y="4663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1000" y="16000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4"/>
                  <a:pt x="3382" y="17373"/>
                  <a:pt x="4000" y="17730"/>
                </a:cubicBezTo>
                <a:lnTo>
                  <a:pt x="11000" y="21730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20000" y="17730"/>
                </a:lnTo>
                <a:cubicBezTo>
                  <a:pt x="20618" y="17373"/>
                  <a:pt x="20999" y="16714"/>
                  <a:pt x="21000" y="16000"/>
                </a:cubicBezTo>
                <a:close/>
                <a:moveTo>
                  <a:pt x="3270" y="6960"/>
                </a:moveTo>
                <a:lnTo>
                  <a:pt x="12000" y="12010"/>
                </a:lnTo>
                <a:lnTo>
                  <a:pt x="20730" y="6960"/>
                </a:lnTo>
                <a:moveTo>
                  <a:pt x="12000" y="22080"/>
                </a:moveTo>
                <a:lnTo>
                  <a:pt x="12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6893" y="5257800"/>
            <a:ext cx="167335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DESIGN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6893" y="5623560"/>
            <a:ext cx="511210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Adaptive Color Science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773936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PARADIGM SHIFT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Standard AI Slides vs. SlideCraft Native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 side-by-side technical evaluation of presentation generation architectures.</a:t>
            </a:r>
          </a:p>
        </p:txBody>
      </p:sp>
      <p:sp>
        <p:nvSpPr>
          <p:cNvPr id="5" name="!!comp_left"/>
          <p:cNvSpPr/>
          <p:nvPr/>
        </p:nvSpPr>
        <p:spPr>
          <a:xfrm>
            <a:off x="822960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560320"/>
            <a:ext cx="3081528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94A3B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LEGACY WRAPPERS &amp;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Template Hacks &amp; Flat Bullets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Plain unstyled text boxes on bare backgrounds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Inverted XML tags triggering repair dialogs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SVGs flattened into blurry 72 DPI PNGs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70916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67258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Zero motion: no Morph or timed animations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512064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508406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Brittle coordinate guessing causing overlaps</a:t>
            </a:r>
          </a:p>
        </p:txBody>
      </p:sp>
      <p:sp>
        <p:nvSpPr>
          <p:cNvPr id="18" name="!!comp_right"/>
          <p:cNvSpPr/>
          <p:nvPr/>
        </p:nvSpPr>
        <p:spPr>
          <a:xfrm>
            <a:off x="6278879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2286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4639" y="2560320"/>
            <a:ext cx="2880360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NATIVE COMPILATION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639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DrawingML &amp; SMIL AST Compiler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4639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4679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Elevated bento containers &amp; glassmorphic cards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4639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4679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Strict ISO/IEC 29500-1 schema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4639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4679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Hardware-accelerated custom geometry vector paths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4639" y="470916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4679" y="467258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Full SMIL time tree with sequential click triggers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4639" y="512064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679" y="508406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Deterministic EMU layout solver with 0 collisions</a:t>
            </a:r>
          </a:p>
        </p:txBody>
      </p:sp>
      <p:sp>
        <p:nvSpPr>
          <p:cNvPr id="31" name="Oval 30"/>
          <p:cNvSpPr/>
          <p:nvPr/>
        </p:nvSpPr>
        <p:spPr>
          <a:xfrm>
            <a:off x="5894831" y="4027931"/>
            <a:ext cx="402336" cy="402336"/>
          </a:xfrm>
          <a:prstGeom prst="ellipse">
            <a:avLst/>
          </a:prstGeom>
          <a:solidFill>
            <a:srgbClr val="090D16"/>
          </a:solidFill>
          <a:ln w="12700">
            <a:solidFill>
              <a:srgbClr val="1F293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276856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AUTONOMOUS PIPELINE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Multi-Model Synthesis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How multimodal AI models orchestrate from raw prompt to compiled PPTX.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468880"/>
            <a:ext cx="9631679" cy="36576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7181" y="2286000"/>
            <a:ext cx="402336" cy="402336"/>
          </a:xfrm>
          <a:prstGeom prst="ellipse">
            <a:avLst/>
          </a:prstGeom>
          <a:solidFill>
            <a:srgbClr val="00F0F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090D1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880360"/>
            <a:ext cx="1882139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9500" y="2000"/>
                </a:moveTo>
                <a:cubicBezTo>
                  <a:pt x="10881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1997" y="20793"/>
                  <a:pt x="11009" y="21871"/>
                  <a:pt x="9721" y="21985"/>
                </a:cubicBezTo>
                <a:cubicBezTo>
                  <a:pt x="8433" y="22099"/>
                  <a:pt x="7270" y="21212"/>
                  <a:pt x="7040" y="19940"/>
                </a:cubicBezTo>
                <a:cubicBezTo>
                  <a:pt x="6188" y="20130"/>
                  <a:pt x="5299" y="19861"/>
                  <a:pt x="4694" y="19232"/>
                </a:cubicBezTo>
                <a:cubicBezTo>
                  <a:pt x="4089" y="18603"/>
                  <a:pt x="3857" y="17704"/>
                  <a:pt x="4080" y="16860"/>
                </a:cubicBezTo>
                <a:cubicBezTo>
                  <a:pt x="2903" y="16482"/>
                  <a:pt x="2078" y="15420"/>
                  <a:pt x="2003" y="14186"/>
                </a:cubicBezTo>
                <a:cubicBezTo>
                  <a:pt x="1928" y="12952"/>
                  <a:pt x="2617" y="11798"/>
                  <a:pt x="3740" y="11280"/>
                </a:cubicBezTo>
                <a:cubicBezTo>
                  <a:pt x="3075" y="10623"/>
                  <a:pt x="2832" y="9651"/>
                  <a:pt x="3110" y="8758"/>
                </a:cubicBezTo>
                <a:cubicBezTo>
                  <a:pt x="3388" y="7866"/>
                  <a:pt x="4140" y="7203"/>
                  <a:pt x="5060" y="7040"/>
                </a:cubicBezTo>
                <a:cubicBezTo>
                  <a:pt x="3668" y="5814"/>
                  <a:pt x="3534" y="3692"/>
                  <a:pt x="4760" y="2300"/>
                </a:cubicBezTo>
                <a:cubicBezTo>
                  <a:pt x="5986" y="908"/>
                  <a:pt x="8108" y="774"/>
                  <a:pt x="9500" y="2000"/>
                </a:cubicBezTo>
                <a:close/>
                <a:moveTo>
                  <a:pt x="14500" y="2000"/>
                </a:moveTo>
                <a:cubicBezTo>
                  <a:pt x="13119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2003" y="20793"/>
                  <a:pt x="12991" y="21871"/>
                  <a:pt x="14279" y="21985"/>
                </a:cubicBezTo>
                <a:cubicBezTo>
                  <a:pt x="15567" y="22099"/>
                  <a:pt x="16730" y="21212"/>
                  <a:pt x="16960" y="19940"/>
                </a:cubicBezTo>
                <a:cubicBezTo>
                  <a:pt x="17812" y="20130"/>
                  <a:pt x="18701" y="19861"/>
                  <a:pt x="19306" y="19232"/>
                </a:cubicBezTo>
                <a:cubicBezTo>
                  <a:pt x="19911" y="18603"/>
                  <a:pt x="20143" y="17704"/>
                  <a:pt x="19920" y="16860"/>
                </a:cubicBezTo>
                <a:cubicBezTo>
                  <a:pt x="21097" y="16482"/>
                  <a:pt x="21922" y="15420"/>
                  <a:pt x="21997" y="14186"/>
                </a:cubicBezTo>
                <a:cubicBezTo>
                  <a:pt x="22072" y="12952"/>
                  <a:pt x="21383" y="11798"/>
                  <a:pt x="20260" y="11280"/>
                </a:cubicBezTo>
                <a:cubicBezTo>
                  <a:pt x="20925" y="10623"/>
                  <a:pt x="21168" y="9651"/>
                  <a:pt x="20890" y="8758"/>
                </a:cubicBezTo>
                <a:cubicBezTo>
                  <a:pt x="20612" y="7866"/>
                  <a:pt x="19860" y="7203"/>
                  <a:pt x="18940" y="7040"/>
                </a:cubicBezTo>
                <a:cubicBezTo>
                  <a:pt x="20332" y="5814"/>
                  <a:pt x="20466" y="3692"/>
                  <a:pt x="19240" y="2300"/>
                </a:cubicBezTo>
                <a:cubicBezTo>
                  <a:pt x="18014" y="908"/>
                  <a:pt x="15892" y="774"/>
                  <a:pt x="14500" y="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7947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PHASE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60520"/>
            <a:ext cx="17906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9FAFB"/>
                </a:solidFill>
                <a:latin typeface="Segoe UI"/>
              </a:defRPr>
            </a:pPr>
            <a:r>
              <a:t>Semantic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17906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LLM plans narrative flow, slide count, and selects archetype layouts.</a:t>
            </a:r>
          </a:p>
        </p:txBody>
      </p:sp>
      <p:sp>
        <p:nvSpPr>
          <p:cNvPr id="14" name="Oval 13"/>
          <p:cNvSpPr/>
          <p:nvPr/>
        </p:nvSpPr>
        <p:spPr>
          <a:xfrm>
            <a:off x="4542281" y="2286000"/>
            <a:ext cx="402336" cy="402336"/>
          </a:xfrm>
          <a:prstGeom prst="ellipse">
            <a:avLst/>
          </a:prstGeom>
          <a:solidFill>
            <a:srgbClr val="1218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9FAF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80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38371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8099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lnTo>
                  <a:pt x="13912" y="8885"/>
                </a:lnTo>
                <a:lnTo>
                  <a:pt x="20000" y="10800"/>
                </a:lnTo>
                <a:lnTo>
                  <a:pt x="15146" y="14530"/>
                </a:lnTo>
                <a:lnTo>
                  <a:pt x="17000" y="20600"/>
                </a:lnTo>
                <a:lnTo>
                  <a:pt x="12000" y="16854"/>
                </a:lnTo>
                <a:lnTo>
                  <a:pt x="7000" y="20600"/>
                </a:lnTo>
                <a:lnTo>
                  <a:pt x="8854" y="14530"/>
                </a:lnTo>
                <a:lnTo>
                  <a:pt x="4000" y="10800"/>
                </a:lnTo>
                <a:lnTo>
                  <a:pt x="10088" y="8885"/>
                </a:lnTo>
                <a:lnTo>
                  <a:pt x="12000" y="3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8099" y="37947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PHASE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8099" y="4160520"/>
            <a:ext cx="17906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9FAFB"/>
                </a:solidFill>
                <a:latin typeface="Segoe UI"/>
              </a:defRPr>
            </a:pPr>
            <a:r>
              <a:t>Multimodal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8099" y="4846320"/>
            <a:ext cx="17906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Generates high-res photography, custom SVG icons, and copy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7247381" y="2286000"/>
            <a:ext cx="402336" cy="402336"/>
          </a:xfrm>
          <a:prstGeom prst="ellipse">
            <a:avLst/>
          </a:prstGeom>
          <a:solidFill>
            <a:srgbClr val="1218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9FAF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1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3471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3199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lose/>
                <a:moveTo>
                  <a:pt x="12000" y="18000"/>
                </a:moveTo>
                <a:cubicBezTo>
                  <a:pt x="15314" y="18000"/>
                  <a:pt x="18000" y="15314"/>
                  <a:pt x="18000" y="12000"/>
                </a:cubicBezTo>
                <a:cubicBezTo>
                  <a:pt x="18000" y="8686"/>
                  <a:pt x="15314" y="6000"/>
                  <a:pt x="12000" y="6000"/>
                </a:cubicBezTo>
                <a:cubicBezTo>
                  <a:pt x="8686" y="6000"/>
                  <a:pt x="6000" y="8686"/>
                  <a:pt x="6000" y="12000"/>
                </a:cubicBezTo>
                <a:cubicBezTo>
                  <a:pt x="6000" y="15314"/>
                  <a:pt x="8686" y="18000"/>
                  <a:pt x="12000" y="18000"/>
                </a:cubicBezTo>
                <a:close/>
                <a:moveTo>
                  <a:pt x="12000" y="14000"/>
                </a:moveTo>
                <a:cubicBezTo>
                  <a:pt x="13105" y="14000"/>
                  <a:pt x="14000" y="13105"/>
                  <a:pt x="14000" y="12000"/>
                </a:cubicBezTo>
                <a:cubicBezTo>
                  <a:pt x="14000" y="10895"/>
                  <a:pt x="13105" y="10000"/>
                  <a:pt x="12000" y="10000"/>
                </a:cubicBezTo>
                <a:cubicBezTo>
                  <a:pt x="10895" y="10000"/>
                  <a:pt x="10000" y="10895"/>
                  <a:pt x="10000" y="12000"/>
                </a:cubicBezTo>
                <a:cubicBezTo>
                  <a:pt x="10000" y="13105"/>
                  <a:pt x="10895" y="14000"/>
                  <a:pt x="12000" y="14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3199" y="37947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PHASE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199" y="4160520"/>
            <a:ext cx="17906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9FAFB"/>
                </a:solidFill>
                <a:latin typeface="Segoe UI"/>
              </a:defRPr>
            </a:pPr>
            <a:r>
              <a:t>EMU Spatial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199" y="4846320"/>
            <a:ext cx="17906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Computes exact pixel bounds, card padding, and typography scaling.</a:t>
            </a:r>
          </a:p>
        </p:txBody>
      </p:sp>
      <p:sp>
        <p:nvSpPr>
          <p:cNvPr id="28" name="Oval 27"/>
          <p:cNvSpPr/>
          <p:nvPr/>
        </p:nvSpPr>
        <p:spPr>
          <a:xfrm>
            <a:off x="9952481" y="2286000"/>
            <a:ext cx="402336" cy="402336"/>
          </a:xfrm>
          <a:prstGeom prst="ellipse">
            <a:avLst/>
          </a:prstGeom>
          <a:solidFill>
            <a:srgbClr val="1218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9FAF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82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8571" y="30906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58299" y="3200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close/>
                <a:moveTo>
                  <a:pt x="12000" y="15000"/>
                </a:moveTo>
                <a:lnTo>
                  <a:pt x="9000" y="12000"/>
                </a:ln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8950" y="13000"/>
                </a:cubicBezTo>
                <a:cubicBezTo>
                  <a:pt x="17701" y="13793"/>
                  <a:pt x="16379" y="14463"/>
                  <a:pt x="15000" y="15000"/>
                </a:cubicBezTo>
                <a:close/>
                <a:moveTo>
                  <a:pt x="9000" y="18000"/>
                </a:moveTo>
                <a:lnTo>
                  <a:pt x="12000" y="21000"/>
                </a:lnTo>
                <a:moveTo>
                  <a:pt x="5000" y="9000"/>
                </a:moveTo>
                <a:lnTo>
                  <a:pt x="8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58299" y="37947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PHASE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299" y="4160520"/>
            <a:ext cx="17906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9FAFB"/>
                </a:solidFill>
                <a:latin typeface="Segoe UI"/>
              </a:defRPr>
            </a:pPr>
            <a:r>
              <a:t>OpenXML Packaging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8299" y="4846320"/>
            <a:ext cx="17906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Assembles DrawingML trees, Morph IDs, and streams into ZIP container.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22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3182112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THE FUTURE OF KNOWLEDGE WORK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The End of Manual Presentation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Transforming complex human insights into visual impact.</a:t>
            </a:r>
          </a:p>
        </p:txBody>
      </p:sp>
      <p:sp>
        <p:nvSpPr>
          <p:cNvPr id="5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00F0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F9FAFB"/>
                </a:solidFill>
                <a:latin typeface="Segoe UI"/>
              </a:defRPr>
            </a:pPr>
            <a:r>
              <a:t>"Presentations are spatial stories. By giving AI direct control over the native OpenXML vector canvas, we bridge the gap between pure thought and publication-grade visual communication."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00F0FF"/>
                </a:solidFill>
                <a:latin typeface="Segoe UI"/>
              </a:defRPr>
            </a:pPr>
            <a:r>
              <a:t>— SlideCraft Engineering,  Antigravity Advanced Agentic Systems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