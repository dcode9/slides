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4114800" cy="4114800"/>
          </a:xfrm>
          <a:prstGeom prst="ellipse">
            <a:avLst/>
          </a:prstGeom>
          <a:solidFill>
            <a:srgbClr val="121826"/>
          </a:solidFill>
          <a:ln w="12700">
            <a:solidFill>
              <a:srgbClr val="00F0FF"/>
            </a:solidFill>
          </a:ln>
          <a:effectLst>
            <a:outerShdw blurRad="304800" dist="0" dir="5400000" algn="ctr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3282696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EXECUTIVE THREAT INTELLIGENCE</a:t>
            </a:r>
          </a:p>
        </p:txBody>
      </p:sp>
      <p:sp>
        <p:nvSpPr>
          <p:cNvPr id="4" name="!!hero_title"/>
          <p:cNvSpPr txBox="1"/>
          <p:nvPr/>
        </p:nvSpPr>
        <p:spPr>
          <a:xfrm>
            <a:off x="822960" y="21945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F9FAFB"/>
                </a:solidFill>
                <a:latin typeface="Segoe UI"/>
              </a:defRPr>
            </a:pPr>
            <a:r>
              <a:t>Cybersecurity in 2026: Navigating Complexity</a:t>
            </a:r>
          </a:p>
        </p:txBody>
      </p:sp>
      <p:sp>
        <p:nvSpPr>
          <p:cNvPr id="5" name="!!hero_subtitle"/>
          <p:cNvSpPr txBox="1"/>
          <p:nvPr/>
        </p:nvSpPr>
        <p:spPr>
          <a:xfrm>
            <a:off x="822960" y="37490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Autonomous threat vectors, zero-trust imperatives, and resilience architectures in an era of unprecedented AI-driven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Global Cyber Threat Intelligence   •   2026 Briefing   •   CRITICAL INFRASTRUCTURE</a:t>
            </a:r>
          </a:p>
        </p:txBody>
      </p:sp>
    </p:spTree>
  </p:cSld>
  <p:clrMapOvr>
    <a:masterClrMapping/>
  </p:clrMapOvr>
  <p:transition xmlns:p14="http://schemas.microsoft.com/office/powerpoint/2010/main" spd="slow" p14:dur="8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975104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THREAT LANDSCAPE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79% of Cyber Attacks Are Now Malware-Free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The paradigm has shifted from malicious binary payloads to stolen credentials and living-off-the-land techniques.</a:t>
            </a:r>
          </a:p>
        </p:txBody>
      </p:sp>
      <p:sp>
        <p:nvSpPr>
          <p:cNvPr id="5" name="!!metric_col_0"/>
          <p:cNvSpPr/>
          <p:nvPr/>
        </p:nvSpPr>
        <p:spPr>
          <a:xfrm>
            <a:off x="822960" y="2194560"/>
            <a:ext cx="3332479" cy="34747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9050">
            <a:solidFill>
              <a:srgbClr val="00F0F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988" y="2372868"/>
            <a:ext cx="512064" cy="512064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2000"/>
                </a:moveTo>
                <a:cubicBezTo>
                  <a:pt x="12000" y="22000"/>
                  <a:pt x="20000" y="18000"/>
                  <a:pt x="20000" y="12000"/>
                </a:cubicBezTo>
                <a:lnTo>
                  <a:pt x="20000" y="5000"/>
                </a:lnTo>
                <a:lnTo>
                  <a:pt x="12000" y="2000"/>
                </a:lnTo>
                <a:lnTo>
                  <a:pt x="4000" y="5000"/>
                </a:lnTo>
                <a:lnTo>
                  <a:pt x="4000" y="12000"/>
                </a:lnTo>
                <a:cubicBezTo>
                  <a:pt x="4000" y="18000"/>
                  <a:pt x="12000" y="22000"/>
                  <a:pt x="12000" y="22000"/>
                </a:cubicBez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89479" y="251460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EF4444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+23%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71800"/>
            <a:ext cx="2692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00F0FF"/>
                </a:solidFill>
                <a:latin typeface="Segoe UI"/>
              </a:defRPr>
            </a:pPr>
            <a:r>
              <a:t>79%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40480"/>
            <a:ext cx="2692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F9FAFB"/>
                </a:solidFill>
                <a:latin typeface="Segoe UI"/>
              </a:defRPr>
            </a:pPr>
            <a:r>
              <a:t>MALWARE-FREE INTRUSIONS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60520"/>
            <a:ext cx="26923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Attackers exploit legitimate sysadmin tools, evading legacy antivirus signatures.</a:t>
            </a:r>
          </a:p>
        </p:txBody>
      </p:sp>
      <p:sp>
        <p:nvSpPr>
          <p:cNvPr id="12" name="!!metric_col_1"/>
          <p:cNvSpPr/>
          <p:nvPr/>
        </p:nvSpPr>
        <p:spPr>
          <a:xfrm>
            <a:off x="4429759" y="2194560"/>
            <a:ext cx="3332479" cy="34747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53787" y="2372868"/>
            <a:ext cx="512064" cy="512064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49799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9500" y="2000"/>
                </a:moveTo>
                <a:cubicBezTo>
                  <a:pt x="10881" y="2000"/>
                  <a:pt x="12000" y="3119"/>
                  <a:pt x="12000" y="4500"/>
                </a:cubicBezTo>
                <a:lnTo>
                  <a:pt x="12000" y="19500"/>
                </a:lnTo>
                <a:cubicBezTo>
                  <a:pt x="11997" y="20793"/>
                  <a:pt x="11009" y="21871"/>
                  <a:pt x="9721" y="21985"/>
                </a:cubicBezTo>
                <a:cubicBezTo>
                  <a:pt x="8433" y="22099"/>
                  <a:pt x="7270" y="21212"/>
                  <a:pt x="7040" y="19940"/>
                </a:cubicBezTo>
                <a:cubicBezTo>
                  <a:pt x="6188" y="20130"/>
                  <a:pt x="5299" y="19861"/>
                  <a:pt x="4694" y="19232"/>
                </a:cubicBezTo>
                <a:cubicBezTo>
                  <a:pt x="4089" y="18603"/>
                  <a:pt x="3857" y="17704"/>
                  <a:pt x="4080" y="16860"/>
                </a:cubicBezTo>
                <a:cubicBezTo>
                  <a:pt x="2903" y="16482"/>
                  <a:pt x="2078" y="15420"/>
                  <a:pt x="2003" y="14186"/>
                </a:cubicBezTo>
                <a:cubicBezTo>
                  <a:pt x="1928" y="12952"/>
                  <a:pt x="2617" y="11798"/>
                  <a:pt x="3740" y="11280"/>
                </a:cubicBezTo>
                <a:cubicBezTo>
                  <a:pt x="3075" y="10623"/>
                  <a:pt x="2832" y="9651"/>
                  <a:pt x="3110" y="8758"/>
                </a:cubicBezTo>
                <a:cubicBezTo>
                  <a:pt x="3388" y="7866"/>
                  <a:pt x="4140" y="7203"/>
                  <a:pt x="5060" y="7040"/>
                </a:cubicBezTo>
                <a:cubicBezTo>
                  <a:pt x="3668" y="5814"/>
                  <a:pt x="3534" y="3692"/>
                  <a:pt x="4760" y="2300"/>
                </a:cubicBezTo>
                <a:cubicBezTo>
                  <a:pt x="5986" y="908"/>
                  <a:pt x="8108" y="774"/>
                  <a:pt x="9500" y="2000"/>
                </a:cubicBezTo>
                <a:close/>
                <a:moveTo>
                  <a:pt x="14500" y="2000"/>
                </a:moveTo>
                <a:cubicBezTo>
                  <a:pt x="13119" y="2000"/>
                  <a:pt x="12000" y="3119"/>
                  <a:pt x="12000" y="4500"/>
                </a:cubicBezTo>
                <a:lnTo>
                  <a:pt x="12000" y="19500"/>
                </a:lnTo>
                <a:cubicBezTo>
                  <a:pt x="12003" y="20793"/>
                  <a:pt x="12991" y="21871"/>
                  <a:pt x="14279" y="21985"/>
                </a:cubicBezTo>
                <a:cubicBezTo>
                  <a:pt x="15567" y="22099"/>
                  <a:pt x="16730" y="21212"/>
                  <a:pt x="16960" y="19940"/>
                </a:cubicBezTo>
                <a:cubicBezTo>
                  <a:pt x="17812" y="20130"/>
                  <a:pt x="18701" y="19861"/>
                  <a:pt x="19306" y="19232"/>
                </a:cubicBezTo>
                <a:cubicBezTo>
                  <a:pt x="19911" y="18603"/>
                  <a:pt x="20143" y="17704"/>
                  <a:pt x="19920" y="16860"/>
                </a:cubicBezTo>
                <a:cubicBezTo>
                  <a:pt x="21097" y="16482"/>
                  <a:pt x="21922" y="15420"/>
                  <a:pt x="21997" y="14186"/>
                </a:cubicBezTo>
                <a:cubicBezTo>
                  <a:pt x="22072" y="12952"/>
                  <a:pt x="21383" y="11798"/>
                  <a:pt x="20260" y="11280"/>
                </a:cubicBezTo>
                <a:cubicBezTo>
                  <a:pt x="20925" y="10623"/>
                  <a:pt x="21168" y="9651"/>
                  <a:pt x="20890" y="8758"/>
                </a:cubicBezTo>
                <a:cubicBezTo>
                  <a:pt x="20612" y="7866"/>
                  <a:pt x="19860" y="7203"/>
                  <a:pt x="18940" y="7040"/>
                </a:cubicBezTo>
                <a:cubicBezTo>
                  <a:pt x="20332" y="5814"/>
                  <a:pt x="20466" y="3692"/>
                  <a:pt x="19240" y="2300"/>
                </a:cubicBezTo>
                <a:cubicBezTo>
                  <a:pt x="18014" y="908"/>
                  <a:pt x="15892" y="774"/>
                  <a:pt x="14500" y="2000"/>
                </a:cubicBezTo>
                <a:close/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96279" y="2514600"/>
            <a:ext cx="868680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EF4444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SPIKE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799" y="2971800"/>
            <a:ext cx="2692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F9FAFB"/>
                </a:solidFill>
                <a:latin typeface="Segoe UI"/>
              </a:defRPr>
            </a:pPr>
            <a:r>
              <a:t>40%+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9799" y="3840480"/>
            <a:ext cx="2692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94A3B8"/>
                </a:solidFill>
                <a:latin typeface="Segoe UI"/>
              </a:defRPr>
            </a:pPr>
            <a:r>
              <a:t>AI PHISHING SURGE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9799" y="4160520"/>
            <a:ext cx="26923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Generative synthetic phishing emails achieve 3.8x higher clickthrough rates.</a:t>
            </a:r>
          </a:p>
        </p:txBody>
      </p:sp>
      <p:sp>
        <p:nvSpPr>
          <p:cNvPr id="19" name="!!metric_col_2"/>
          <p:cNvSpPr/>
          <p:nvPr/>
        </p:nvSpPr>
        <p:spPr>
          <a:xfrm>
            <a:off x="8036559" y="2194560"/>
            <a:ext cx="3332479" cy="34747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60587" y="2372868"/>
            <a:ext cx="512064" cy="512064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56599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2000"/>
                </a:move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lose/>
                <a:moveTo>
                  <a:pt x="12000" y="8000"/>
                </a:moveTo>
                <a:lnTo>
                  <a:pt x="12000" y="13000"/>
                </a:lnTo>
                <a:lnTo>
                  <a:pt x="15500" y="15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03079" y="251460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EF4444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599" y="2971800"/>
            <a:ext cx="2692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F9FAFB"/>
                </a:solidFill>
                <a:latin typeface="Segoe UI"/>
              </a:defRPr>
            </a:pPr>
            <a:r>
              <a:t>2.4m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599" y="3840480"/>
            <a:ext cx="2692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94A3B8"/>
                </a:solidFill>
                <a:latin typeface="Segoe UI"/>
              </a:defRPr>
            </a:pPr>
            <a:r>
              <a:t>AVERAGE DWELL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6599" y="4160520"/>
            <a:ext cx="26923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Median duration before an undetected adversary is evicted from the network.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377440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VULNERABILITY VECTOR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Supply Chain Attacks: The Hidden Achilles' 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Adversaries systematically bypass hardened perimeters by compromising trusted third-party vendors and dependencies.</a:t>
            </a:r>
          </a:p>
        </p:txBody>
      </p:sp>
      <p:sp>
        <p:nvSpPr>
          <p:cNvPr id="5" name="!!bento_hero"/>
          <p:cNvSpPr/>
          <p:nvPr/>
        </p:nvSpPr>
        <p:spPr>
          <a:xfrm>
            <a:off x="822960" y="2194560"/>
            <a:ext cx="4519573" cy="402336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9050">
            <a:solidFill>
              <a:srgbClr val="00F0F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988" y="2372868"/>
            <a:ext cx="512064" cy="512064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0290" y="3860"/>
                </a:moveTo>
                <a:lnTo>
                  <a:pt x="1820" y="18000"/>
                </a:lnTo>
                <a:cubicBezTo>
                  <a:pt x="1465" y="18615"/>
                  <a:pt x="1463" y="19373"/>
                  <a:pt x="1814" y="19991"/>
                </a:cubicBezTo>
                <a:cubicBezTo>
                  <a:pt x="2166" y="20608"/>
                  <a:pt x="2819" y="20992"/>
                  <a:pt x="3530" y="21000"/>
                </a:cubicBezTo>
                <a:lnTo>
                  <a:pt x="20470" y="21000"/>
                </a:lnTo>
                <a:cubicBezTo>
                  <a:pt x="21181" y="20992"/>
                  <a:pt x="21834" y="20608"/>
                  <a:pt x="22186" y="19991"/>
                </a:cubicBezTo>
                <a:cubicBezTo>
                  <a:pt x="22537" y="19373"/>
                  <a:pt x="22535" y="18615"/>
                  <a:pt x="22180" y="18000"/>
                </a:cubicBezTo>
                <a:lnTo>
                  <a:pt x="13710" y="3860"/>
                </a:lnTo>
                <a:cubicBezTo>
                  <a:pt x="13347" y="3262"/>
                  <a:pt x="12699" y="2897"/>
                  <a:pt x="12000" y="2897"/>
                </a:cubicBezTo>
                <a:cubicBezTo>
                  <a:pt x="11301" y="2897"/>
                  <a:pt x="10653" y="3262"/>
                  <a:pt x="10290" y="3860"/>
                </a:cubicBezTo>
                <a:close/>
                <a:moveTo>
                  <a:pt x="12000" y="9000"/>
                </a:moveTo>
                <a:lnTo>
                  <a:pt x="12000" y="13000"/>
                </a:ln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71800"/>
            <a:ext cx="387949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00F0FF"/>
                </a:solidFill>
                <a:latin typeface="Segoe UI"/>
              </a:defRPr>
            </a:pPr>
            <a:r>
              <a:t>54%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387949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F9FAFB"/>
                </a:solidFill>
                <a:latin typeface="Segoe UI"/>
              </a:defRPr>
            </a:pPr>
            <a:r>
              <a:t>CISO CHIEF RESILIENCE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387949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Over half of Fortune 500 enterprises identify third-party supplier vulnerabilities as their single greatest threat.</a:t>
            </a:r>
          </a:p>
        </p:txBody>
      </p:sp>
      <p:sp>
        <p:nvSpPr>
          <p:cNvPr id="11" name="!!bento_card_top"/>
          <p:cNvSpPr/>
          <p:nvPr/>
        </p:nvSpPr>
        <p:spPr>
          <a:xfrm>
            <a:off x="5616853" y="2194560"/>
            <a:ext cx="5752185" cy="18745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27165" y="240487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36893" y="25146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6000" y="18000"/>
                </a:moveTo>
                <a:lnTo>
                  <a:pt x="22000" y="12000"/>
                </a:lnTo>
                <a:lnTo>
                  <a:pt x="16000" y="6000"/>
                </a:lnTo>
                <a:moveTo>
                  <a:pt x="8000" y="6000"/>
                </a:moveTo>
                <a:lnTo>
                  <a:pt x="2000" y="12000"/>
                </a:lnTo>
                <a:lnTo>
                  <a:pt x="8000" y="18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36893" y="3108960"/>
            <a:ext cx="1572768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8B5CF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6893" y="3474720"/>
            <a:ext cx="511210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Software Dependency Poisoning</a:t>
            </a:r>
          </a:p>
        </p:txBody>
      </p:sp>
      <p:sp>
        <p:nvSpPr>
          <p:cNvPr id="16" name="!!bento_card_bot"/>
          <p:cNvSpPr/>
          <p:nvPr/>
        </p:nvSpPr>
        <p:spPr>
          <a:xfrm>
            <a:off x="5616853" y="4343400"/>
            <a:ext cx="5752185" cy="187452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27165" y="4553712"/>
            <a:ext cx="585216" cy="585216"/>
          </a:xfrm>
          <a:prstGeom prst="ellipse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6893" y="46634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9000" y="11000"/>
                </a:moveTo>
                <a:lnTo>
                  <a:pt x="5000" y="11000"/>
                </a:lnTo>
                <a:cubicBezTo>
                  <a:pt x="3895" y="11000"/>
                  <a:pt x="3000" y="11895"/>
                  <a:pt x="3000" y="13000"/>
                </a:cubicBezTo>
                <a:lnTo>
                  <a:pt x="3000" y="20000"/>
                </a:lnTo>
                <a:cubicBezTo>
                  <a:pt x="3000" y="21105"/>
                  <a:pt x="3895" y="22000"/>
                  <a:pt x="5000" y="22000"/>
                </a:cubicBezTo>
                <a:lnTo>
                  <a:pt x="19000" y="22000"/>
                </a:lnTo>
                <a:cubicBezTo>
                  <a:pt x="20105" y="22000"/>
                  <a:pt x="21000" y="21105"/>
                  <a:pt x="21000" y="20000"/>
                </a:cubicBezTo>
                <a:lnTo>
                  <a:pt x="21000" y="13000"/>
                </a:lnTo>
                <a:cubicBezTo>
                  <a:pt x="21000" y="11895"/>
                  <a:pt x="20105" y="11000"/>
                  <a:pt x="19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36893" y="5257800"/>
            <a:ext cx="1975104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8B5CF6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LATERAL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6893" y="5623560"/>
            <a:ext cx="511210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Vendor Credential Pivoting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6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679191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ARCHITECTURE COMPARISON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Castle-and-Moat vs. Modern Zero-Trust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Traditional static perimeters crumble against insider threats and credential compromise.</a:t>
            </a:r>
          </a:p>
        </p:txBody>
      </p:sp>
      <p:sp>
        <p:nvSpPr>
          <p:cNvPr id="5" name="!!comp_left"/>
          <p:cNvSpPr/>
          <p:nvPr/>
        </p:nvSpPr>
        <p:spPr>
          <a:xfrm>
            <a:off x="822960" y="2240280"/>
            <a:ext cx="5090159" cy="3977639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560320"/>
            <a:ext cx="1773936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94A3B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LEGACY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71800"/>
            <a:ext cx="4358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Perimeter Firewalls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47472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343814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Implicit trust granted once inside corporate VPN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388620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84962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Broad subnet access facilitates unrestrained lateral movement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29768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426110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Static rule bases require manual updates and decay over time</a:t>
            </a:r>
          </a:p>
        </p:txBody>
      </p:sp>
      <p:sp>
        <p:nvSpPr>
          <p:cNvPr id="14" name="!!comp_right"/>
          <p:cNvSpPr/>
          <p:nvPr/>
        </p:nvSpPr>
        <p:spPr>
          <a:xfrm>
            <a:off x="6278879" y="2240280"/>
            <a:ext cx="5090159" cy="3977639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22860">
            <a:solidFill>
              <a:srgbClr val="00F0FF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44639" y="2560320"/>
            <a:ext cx="2176272" cy="274320"/>
          </a:xfrm>
          <a:prstGeom prst="roundRect">
            <a:avLst>
              <a:gd name="adj" fmla="val 25000"/>
            </a:avLst>
          </a:prstGeom>
          <a:solidFill>
            <a:srgbClr val="090D1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ZERO-TRUST MANDATE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39" y="2971800"/>
            <a:ext cx="4358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9FAFB"/>
                </a:solidFill>
                <a:latin typeface="Segoe UI"/>
              </a:defRPr>
            </a:pPr>
            <a:r>
              <a:t>Continuous Attestation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44639" y="347472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4679" y="343814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F9FAFB"/>
                </a:solidFill>
                <a:latin typeface="Segoe UI"/>
              </a:defRPr>
            </a:pPr>
            <a:r>
              <a:t>Every request cryptographically authenticated and authorized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44639" y="388620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4679" y="384962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F9FAFB"/>
                </a:solidFill>
                <a:latin typeface="Segoe UI"/>
              </a:defRPr>
            </a:pPr>
            <a:r>
              <a:t>Granular micro-segmentation contains compromise to single pod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4639" y="429768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4679" y="426110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F9FAFB"/>
                </a:solidFill>
                <a:latin typeface="Segoe UI"/>
              </a:defRPr>
            </a:pPr>
            <a:r>
              <a:t>Behavioral anomaly detection revokes tokens in real time</a:t>
            </a:r>
          </a:p>
        </p:txBody>
      </p:sp>
      <p:sp>
        <p:nvSpPr>
          <p:cNvPr id="23" name="Oval 22"/>
          <p:cNvSpPr/>
          <p:nvPr/>
        </p:nvSpPr>
        <p:spPr>
          <a:xfrm>
            <a:off x="5894831" y="4027931"/>
            <a:ext cx="402336" cy="402336"/>
          </a:xfrm>
          <a:prstGeom prst="ellipse">
            <a:avLst/>
          </a:prstGeom>
          <a:solidFill>
            <a:srgbClr val="090D16"/>
          </a:solidFill>
          <a:ln w="12700">
            <a:solidFill>
              <a:srgbClr val="1F293D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VS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779776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TALENT CRISIS &amp; STRATEGY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The Cybersecurity Workforce Deficit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Human defense teams cannot keep pace with automated threats without AI-driven orchestration.</a:t>
            </a:r>
          </a:p>
        </p:txBody>
      </p:sp>
      <p:sp>
        <p:nvSpPr>
          <p:cNvPr id="5" name="!!quote_card"/>
          <p:cNvSpPr/>
          <p:nvPr/>
        </p:nvSpPr>
        <p:spPr>
          <a:xfrm>
            <a:off x="822960" y="2194560"/>
            <a:ext cx="10546079" cy="365760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3774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7200" b="1">
                <a:solidFill>
                  <a:srgbClr val="00F0FF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108960"/>
            <a:ext cx="90830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2200" b="0">
                <a:solidFill>
                  <a:srgbClr val="F9FAFB"/>
                </a:solidFill>
                <a:latin typeface="Segoe UI"/>
              </a:defRPr>
            </a:pPr>
            <a:r>
              <a:t>"With 66% of organizations reporting severe talent shortages, security is no longer a headcount problem—it is an automation imperative. Teams that fail to adopt autonomous AI defenses will face catastrophic operational asymmetry."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754880"/>
            <a:ext cx="908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00F0FF"/>
                </a:solidFill>
                <a:latin typeface="Segoe UI"/>
              </a:defRPr>
            </a:pPr>
            <a:r>
              <a:t>— CrowdStrike Global Threat Report,  Executive Insights &amp; Foresight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