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4114800" cy="4114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25E38"/>
            </a:solidFill>
          </a:ln>
          <a:effectLst>
            <a:outerShdw blurRad="304800" dist="0" dir="5400000" algn="ctr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!!hero_image" descr="sikkim_land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297680" cy="4114800"/>
          </a:xfrm>
          <a:prstGeom prst="rect">
            <a:avLst/>
          </a:prstGeom>
          <a:ln w="12700">
            <a:solidFill>
              <a:srgbClr val="E5E0D8">
                <a:alpha val="50000"/>
              </a:srgbClr>
            </a:solidFill>
          </a:ln>
          <a:effectLst>
            <a:outerShdw blurRad="152400" dist="50800" dir="5400000" algn="ctr" rotWithShape="0">
              <a:srgbClr val="000000">
                <a:alpha val="8000"/>
              </a:srgbClr>
            </a:outerShdw>
          </a:effectLst>
        </p:spPr>
      </p:pic>
      <p:sp>
        <p:nvSpPr>
          <p:cNvPr id="4" name="Rounded Rectangle 3"/>
          <p:cNvSpPr/>
          <p:nvPr/>
        </p:nvSpPr>
        <p:spPr>
          <a:xfrm>
            <a:off x="822960" y="1645920"/>
            <a:ext cx="3584448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25E3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C25E38"/>
                </a:solidFill>
                <a:latin typeface="Georgia"/>
              </a:defRPr>
            </a:pPr>
            <a:r>
              <a:t>ART-INTEGRATED COMPARATIVE STUDY</a:t>
            </a:r>
          </a:p>
        </p:txBody>
      </p:sp>
      <p:sp>
        <p:nvSpPr>
          <p:cNvPr id="5" name="!!hero_title"/>
          <p:cNvSpPr txBox="1"/>
          <p:nvPr/>
        </p:nvSpPr>
        <p:spPr>
          <a:xfrm>
            <a:off x="822960" y="219456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18181B"/>
                </a:solidFill>
                <a:latin typeface="Georgia"/>
              </a:defRPr>
            </a:pPr>
            <a:r>
              <a:t>Glimpses of India: Goa &amp; Sikkim</a:t>
            </a:r>
          </a:p>
        </p:txBody>
      </p:sp>
      <p:sp>
        <p:nvSpPr>
          <p:cNvPr id="6" name="!!hero_subtitle"/>
          <p:cNvSpPr txBox="1"/>
          <p:nvPr/>
        </p:nvSpPr>
        <p:spPr>
          <a:xfrm>
            <a:off x="822960" y="374904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57534E"/>
                </a:solidFill>
                <a:latin typeface="Calibri"/>
              </a:defRPr>
            </a:pPr>
            <a:r>
              <a:t>A comparative exploration of Portuguese-influenced Konkan coastal traditions and sacred Himalayan Buddhist monastic 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57534E"/>
                </a:solidFill>
                <a:latin typeface="Calibri"/>
              </a:defRPr>
            </a:pPr>
            <a:r>
              <a:t>Collaborative Research Faculty   •   Autumn Exhibition   •   EK BHARAT SHRESHTHA BHARAT</a:t>
            </a:r>
          </a:p>
        </p:txBody>
      </p:sp>
    </p:spTree>
  </p:cSld>
  <p:clrMapOvr>
    <a:masterClrMapping/>
  </p:clrMapOvr>
  <p:transition xmlns:p14="http://schemas.microsoft.com/office/powerpoint/2010/main" spd="slow" p14:dur="8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176272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25E3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C25E38"/>
                </a:solidFill>
                <a:latin typeface="Georgia"/>
              </a:defRPr>
            </a:pPr>
            <a:r>
              <a:t>HIMALAYAN HERITAGE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18181B"/>
                </a:solidFill>
                <a:latin typeface="Georgia"/>
              </a:defRPr>
            </a:pPr>
            <a:r>
              <a:t>Sacred Traditions of Sikkim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57534E"/>
                </a:solidFill>
                <a:latin typeface="Calibri"/>
              </a:defRPr>
            </a:pPr>
            <a:r>
              <a:t>Where ancient Lepcha folklore, Bhutia monastic rituals, and Nepalese rhythms converge.</a:t>
            </a:r>
          </a:p>
        </p:txBody>
      </p:sp>
      <p:sp>
        <p:nvSpPr>
          <p:cNvPr id="5" name="!!bento_hero"/>
          <p:cNvSpPr/>
          <p:nvPr/>
        </p:nvSpPr>
        <p:spPr>
          <a:xfrm>
            <a:off x="822960" y="2194560"/>
            <a:ext cx="4519573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25E38">
                <a:alpha val="60000"/>
              </a:srgbClr>
            </a:solidFill>
          </a:ln>
          <a:effectLst>
            <a:outerShdw blurRad="152400" dist="50800" dir="54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6988" y="2372868"/>
            <a:ext cx="512064" cy="512064"/>
          </a:xfrm>
          <a:prstGeom prst="ellipse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8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3000"/>
                </a:moveTo>
                <a:lnTo>
                  <a:pt x="13912" y="8885"/>
                </a:lnTo>
                <a:lnTo>
                  <a:pt x="20000" y="10800"/>
                </a:lnTo>
                <a:lnTo>
                  <a:pt x="15146" y="14530"/>
                </a:lnTo>
                <a:lnTo>
                  <a:pt x="17000" y="20600"/>
                </a:lnTo>
                <a:lnTo>
                  <a:pt x="12000" y="16854"/>
                </a:lnTo>
                <a:lnTo>
                  <a:pt x="7000" y="20600"/>
                </a:lnTo>
                <a:lnTo>
                  <a:pt x="8854" y="14530"/>
                </a:lnTo>
                <a:lnTo>
                  <a:pt x="4000" y="10800"/>
                </a:lnTo>
                <a:lnTo>
                  <a:pt x="10088" y="8885"/>
                </a:lnTo>
                <a:lnTo>
                  <a:pt x="12000" y="3000"/>
                </a:lnTo>
                <a:close/>
              </a:path>
            </a:pathLst>
          </a:cu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71800"/>
            <a:ext cx="3879493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C25E38"/>
                </a:solidFill>
                <a:latin typeface="Georgia"/>
              </a:defRPr>
            </a:pPr>
            <a:r>
              <a:t>8th 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387949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18181B"/>
                </a:solidFill>
                <a:latin typeface="Georgia"/>
              </a:defRPr>
            </a:pPr>
            <a:r>
              <a:t>GURU PADMASAMBHAVA ORIGINS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387949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57534E"/>
                </a:solidFill>
                <a:latin typeface="Calibri"/>
              </a:defRPr>
            </a:pPr>
            <a:r>
              <a:t>Masked Cham dances originated in the 8th century as sacred spiritual choreographies designed to purify negative energies and bestow communal blessings.</a:t>
            </a:r>
          </a:p>
        </p:txBody>
      </p:sp>
      <p:sp>
        <p:nvSpPr>
          <p:cNvPr id="11" name="!!bento_card_top"/>
          <p:cNvSpPr/>
          <p:nvPr/>
        </p:nvSpPr>
        <p:spPr>
          <a:xfrm>
            <a:off x="5616853" y="2194560"/>
            <a:ext cx="5752185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8">
                <a:alpha val="60000"/>
              </a:srgbClr>
            </a:solidFill>
          </a:ln>
          <a:effectLst>
            <a:outerShdw blurRad="152400" dist="50800" dir="54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27165" y="2404872"/>
            <a:ext cx="585216" cy="585216"/>
          </a:xfrm>
          <a:prstGeom prst="ellipse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36893" y="25146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lnTo>
                  <a:pt x="15090" y="8260"/>
                </a:lnTo>
                <a:lnTo>
                  <a:pt x="22000" y="9270"/>
                </a:lnTo>
                <a:lnTo>
                  <a:pt x="17000" y="14140"/>
                </a:lnTo>
                <a:lnTo>
                  <a:pt x="18180" y="21020"/>
                </a:lnTo>
                <a:lnTo>
                  <a:pt x="12000" y="17770"/>
                </a:lnTo>
                <a:lnTo>
                  <a:pt x="5820" y="21020"/>
                </a:lnTo>
                <a:lnTo>
                  <a:pt x="7000" y="14140"/>
                </a:lnTo>
                <a:lnTo>
                  <a:pt x="2000" y="9270"/>
                </a:lnTo>
                <a:lnTo>
                  <a:pt x="8910" y="8260"/>
                </a:lnTo>
                <a:lnTo>
                  <a:pt x="12000" y="2000"/>
                </a:lnTo>
                <a:close/>
              </a:path>
            </a:pathLst>
          </a:cu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36893" y="3108960"/>
            <a:ext cx="1170432" cy="274320"/>
          </a:xfrm>
          <a:prstGeom prst="roundRect">
            <a:avLst>
              <a:gd name="adj" fmla="val 25000"/>
            </a:avLst>
          </a:prstGeom>
          <a:solidFill>
            <a:srgbClr val="FAF8F5"/>
          </a:solidFill>
          <a:ln w="12700">
            <a:solidFill>
              <a:srgbClr val="B8975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B89758"/>
                </a:solidFill>
                <a:latin typeface="Georgia"/>
              </a:defRPr>
            </a:pPr>
            <a:r>
              <a:t>FOLKLORE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6893" y="3474720"/>
            <a:ext cx="511210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18181B"/>
                </a:solidFill>
                <a:latin typeface="Georgia"/>
              </a:defRPr>
            </a:pPr>
            <a:r>
              <a:t>Singhi Chham &amp; Snow Lion</a:t>
            </a:r>
          </a:p>
        </p:txBody>
      </p:sp>
      <p:sp>
        <p:nvSpPr>
          <p:cNvPr id="16" name="!!bento_card_bot"/>
          <p:cNvSpPr/>
          <p:nvPr/>
        </p:nvSpPr>
        <p:spPr>
          <a:xfrm>
            <a:off x="5616853" y="4343400"/>
            <a:ext cx="5752185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8">
                <a:alpha val="60000"/>
              </a:srgbClr>
            </a:solidFill>
          </a:ln>
          <a:effectLst>
            <a:outerShdw blurRad="152400" dist="50800" dir="54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27165" y="4553712"/>
            <a:ext cx="585216" cy="585216"/>
          </a:xfrm>
          <a:prstGeom prst="ellipse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36893" y="466344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3000" y="2000"/>
                </a:moveTo>
                <a:lnTo>
                  <a:pt x="3000" y="14000"/>
                </a:lnTo>
                <a:lnTo>
                  <a:pt x="12000" y="14000"/>
                </a:lnTo>
                <a:lnTo>
                  <a:pt x="11000" y="22000"/>
                </a:lnTo>
                <a:lnTo>
                  <a:pt x="21000" y="10000"/>
                </a:lnTo>
                <a:lnTo>
                  <a:pt x="12000" y="10000"/>
                </a:lnTo>
                <a:lnTo>
                  <a:pt x="13000" y="2000"/>
                </a:lnTo>
                <a:close/>
              </a:path>
            </a:pathLst>
          </a:custGeom>
          <a:solidFill>
            <a:srgbClr val="C2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36893" y="5257800"/>
            <a:ext cx="868680" cy="274320"/>
          </a:xfrm>
          <a:prstGeom prst="roundRect">
            <a:avLst>
              <a:gd name="adj" fmla="val 25000"/>
            </a:avLst>
          </a:prstGeom>
          <a:solidFill>
            <a:srgbClr val="FAF8F5"/>
          </a:solidFill>
          <a:ln w="12700">
            <a:solidFill>
              <a:srgbClr val="B8975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B89758"/>
                </a:solidFill>
                <a:latin typeface="Georgia"/>
              </a:defRPr>
            </a:pPr>
            <a:r>
              <a:t>MUSIC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6893" y="5623560"/>
            <a:ext cx="511210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18181B"/>
                </a:solidFill>
                <a:latin typeface="Georgia"/>
              </a:defRPr>
            </a:pPr>
            <a:r>
              <a:t>Acoustic Percussion: The Damphu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6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980944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25E3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C25E38"/>
                </a:solidFill>
                <a:latin typeface="Georgia"/>
              </a:defRPr>
            </a:pPr>
            <a:r>
              <a:t>VISUAL ARTS &amp; SACRED DANCE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18181B"/>
                </a:solidFill>
                <a:latin typeface="Georgia"/>
              </a:defRPr>
            </a:pPr>
            <a:r>
              <a:t>Living Traditions: Cham Rituals &amp; Folk Dances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57534E"/>
                </a:solidFill>
                <a:latin typeface="Calibri"/>
              </a:defRPr>
            </a:pPr>
            <a:r>
              <a:t>Photographic documentation of sacred masked choreography and coastal festival expressions.</a:t>
            </a:r>
          </a:p>
        </p:txBody>
      </p:sp>
      <p:pic>
        <p:nvPicPr>
          <p:cNvPr id="5" name="!!photo_sikkim" descr="singhi_cha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120640" cy="2834640"/>
          </a:xfrm>
          <a:prstGeom prst="rect">
            <a:avLst/>
          </a:prstGeom>
          <a:ln w="12700">
            <a:solidFill>
              <a:srgbClr val="E5E0D8">
                <a:alpha val="50000"/>
              </a:srgbClr>
            </a:solidFill>
          </a:ln>
          <a:effectLst>
            <a:outerShdw blurRad="152400" dist="50800" dir="5400000" algn="ctr" rotWithShape="0">
              <a:srgbClr val="000000">
                <a:alpha val="8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22960" y="52120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18181B"/>
                </a:solidFill>
                <a:latin typeface="Calibri"/>
              </a:defRPr>
            </a:pPr>
            <a:r>
              <a:t>SIKKIM: Cham Sacred Mask Ritual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57534E"/>
                </a:solidFill>
                <a:latin typeface="Calibri"/>
              </a:defRPr>
            </a:pPr>
            <a:r>
              <a:t>Monastic lamas enact spiritual protector deities during sacred annual festivals.</a:t>
            </a:r>
          </a:p>
        </p:txBody>
      </p:sp>
      <p:pic>
        <p:nvPicPr>
          <p:cNvPr id="8" name="!!photo_goa" descr="coorg_da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240280"/>
            <a:ext cx="5120640" cy="2834640"/>
          </a:xfrm>
          <a:prstGeom prst="rect">
            <a:avLst/>
          </a:prstGeom>
          <a:ln w="12700">
            <a:solidFill>
              <a:srgbClr val="E5E0D8">
                <a:alpha val="50000"/>
              </a:srgbClr>
            </a:solidFill>
          </a:ln>
          <a:effectLst>
            <a:outerShdw blurRad="152400" dist="50800" dir="5400000" algn="ctr" rotWithShape="0">
              <a:srgbClr val="000000">
                <a:alpha val="8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309360" y="52120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00" b="1">
                <a:solidFill>
                  <a:srgbClr val="18181B"/>
                </a:solidFill>
                <a:latin typeface="Calibri"/>
              </a:defRPr>
            </a:pPr>
            <a:r>
              <a:t>WESTERN GHATS &amp; KONKAN: Folk Expressions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532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57534E"/>
                </a:solidFill>
                <a:latin typeface="Calibri"/>
              </a:defRPr>
            </a:pPr>
            <a:r>
              <a:t>Communal agrarian harvests celebrated with rhythmic percussion and martial choreography.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779776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25E3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C25E38"/>
                </a:solidFill>
                <a:latin typeface="Georgia"/>
              </a:defRPr>
            </a:pPr>
            <a:r>
              <a:t>ARCHITECTURAL COMPARISON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18181B"/>
                </a:solidFill>
                <a:latin typeface="Georgia"/>
              </a:defRPr>
            </a:pPr>
            <a:r>
              <a:t>Baroque Churches vs. Timber Gompas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57534E"/>
                </a:solidFill>
                <a:latin typeface="Calibri"/>
              </a:defRPr>
            </a:pPr>
            <a:r>
              <a:t>Two distinct architectural solutions shaped by geography, geology, and spiritual devotion.</a:t>
            </a:r>
          </a:p>
        </p:txBody>
      </p:sp>
      <p:sp>
        <p:nvSpPr>
          <p:cNvPr id="5" name="!!comp_left"/>
          <p:cNvSpPr/>
          <p:nvPr/>
        </p:nvSpPr>
        <p:spPr>
          <a:xfrm>
            <a:off x="822960" y="2240280"/>
            <a:ext cx="5090159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8">
                <a:alpha val="60000"/>
              </a:srgbClr>
            </a:solidFill>
          </a:ln>
          <a:effectLst>
            <a:outerShdw blurRad="152400" dist="50800" dir="54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560320"/>
            <a:ext cx="2377440" cy="274320"/>
          </a:xfrm>
          <a:prstGeom prst="roundRect">
            <a:avLst>
              <a:gd name="adj" fmla="val 25000"/>
            </a:avLst>
          </a:prstGeom>
          <a:solidFill>
            <a:srgbClr val="FAF8F5"/>
          </a:solidFill>
          <a:ln w="12700">
            <a:solidFill>
              <a:srgbClr val="57534E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57534E"/>
                </a:solidFill>
                <a:latin typeface="Georgia"/>
              </a:defRPr>
            </a:pPr>
            <a:r>
              <a:t>GOA • LATIN COLONIAL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71800"/>
            <a:ext cx="4358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18181B"/>
                </a:solidFill>
                <a:latin typeface="Georgia"/>
              </a:defRPr>
            </a:pPr>
            <a:r>
              <a:t>Basilica of Bom Jesus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47472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343814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57534E"/>
                </a:solidFill>
                <a:latin typeface="Calibri"/>
              </a:defRPr>
            </a:pPr>
            <a:r>
              <a:t>Constructed in 1605 from volcanic red laterite stone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388620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84962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57534E"/>
                </a:solidFill>
                <a:latin typeface="Calibri"/>
              </a:defRPr>
            </a:pPr>
            <a:r>
              <a:t>Soaring Baroque façade with Corinthian and Doric capitals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429768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12000" y="2000"/>
                </a:moveTo>
                <a:cubicBezTo>
                  <a:pt x="6477" y="2000"/>
                  <a:pt x="2000" y="6477"/>
                  <a:pt x="2000" y="12000"/>
                </a:cubicBezTo>
                <a:cubicBezTo>
                  <a:pt x="2000" y="17523"/>
                  <a:pt x="6477" y="22000"/>
                  <a:pt x="12000" y="22000"/>
                </a:cubicBezTo>
                <a:cubicBezTo>
                  <a:pt x="17523" y="22000"/>
                  <a:pt x="22000" y="17523"/>
                  <a:pt x="22000" y="12000"/>
                </a:cubicBezTo>
                <a:cubicBezTo>
                  <a:pt x="22000" y="6477"/>
                  <a:pt x="17523" y="2000"/>
                  <a:pt x="12000" y="2000"/>
                </a:cubicBezTo>
                <a:close/>
                <a:moveTo>
                  <a:pt x="15500" y="15500"/>
                </a:moveTo>
                <a:lnTo>
                  <a:pt x="8500" y="8500"/>
                </a:lnTo>
                <a:moveTo>
                  <a:pt x="15500" y="8500"/>
                </a:moveTo>
                <a:lnTo>
                  <a:pt x="8500" y="15500"/>
                </a:lnTo>
              </a:path>
            </a:pathLst>
          </a:cu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426110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57534E"/>
                </a:solidFill>
                <a:latin typeface="Calibri"/>
              </a:defRPr>
            </a:pPr>
            <a:r>
              <a:t>Houses the sacred relics of St. Francis Xavier in silver casket</a:t>
            </a:r>
          </a:p>
        </p:txBody>
      </p:sp>
      <p:sp>
        <p:nvSpPr>
          <p:cNvPr id="14" name="!!comp_right"/>
          <p:cNvSpPr/>
          <p:nvPr/>
        </p:nvSpPr>
        <p:spPr>
          <a:xfrm>
            <a:off x="6278879" y="2240280"/>
            <a:ext cx="5090159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C25E38">
                <a:alpha val="60000"/>
              </a:srgbClr>
            </a:solidFill>
          </a:ln>
          <a:effectLst>
            <a:outerShdw blurRad="152400" dist="50800" dir="54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44639" y="2560320"/>
            <a:ext cx="2980944" cy="274320"/>
          </a:xfrm>
          <a:prstGeom prst="roundRect">
            <a:avLst>
              <a:gd name="adj" fmla="val 25000"/>
            </a:avLst>
          </a:prstGeom>
          <a:solidFill>
            <a:srgbClr val="FAF8F5"/>
          </a:solidFill>
          <a:ln w="12700">
            <a:solidFill>
              <a:srgbClr val="C25E3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C25E38"/>
                </a:solidFill>
                <a:latin typeface="Georgia"/>
              </a:defRPr>
            </a:pPr>
            <a:r>
              <a:t>SIKKIM • HIMALAYAN TIBETAN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39" y="2971800"/>
            <a:ext cx="4358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18181B"/>
                </a:solidFill>
                <a:latin typeface="Georgia"/>
              </a:defRPr>
            </a:pPr>
            <a:r>
              <a:t>Pemayangtse Gompa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44639" y="347472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4679" y="343814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18181B"/>
                </a:solidFill>
                <a:latin typeface="Calibri"/>
              </a:defRPr>
            </a:pPr>
            <a:r>
              <a:t>Centuries-old timber joinery resilient to Himalayan seismic shifts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44639" y="388620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4679" y="384962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18181B"/>
                </a:solidFill>
                <a:latin typeface="Calibri"/>
              </a:defRPr>
            </a:pPr>
            <a:r>
              <a:t>Multi-tiered wooden mandalas hand-carved over five years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4639" y="4297680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>
                <a:moveTo>
                  <a:pt x="22000" y="11080"/>
                </a:moveTo>
                <a:lnTo>
                  <a:pt x="22000" y="12000"/>
                </a:lnTo>
                <a:cubicBezTo>
                  <a:pt x="21997" y="16429"/>
                  <a:pt x="19082" y="20328"/>
                  <a:pt x="14835" y="21584"/>
                </a:cubicBezTo>
                <a:cubicBezTo>
                  <a:pt x="10588" y="22840"/>
                  <a:pt x="6021" y="21152"/>
                  <a:pt x="3611" y="17437"/>
                </a:cubicBezTo>
                <a:cubicBezTo>
                  <a:pt x="1201" y="13722"/>
                  <a:pt x="1521" y="8864"/>
                  <a:pt x="4398" y="5497"/>
                </a:cubicBezTo>
                <a:cubicBezTo>
                  <a:pt x="7276" y="2131"/>
                  <a:pt x="12025" y="1058"/>
                  <a:pt x="16070" y="2860"/>
                </a:cubicBezTo>
                <a:moveTo>
                  <a:pt x="22000" y="4000"/>
                </a:moveTo>
                <a:lnTo>
                  <a:pt x="12000" y="14010"/>
                </a:lnTo>
                <a:lnTo>
                  <a:pt x="9000" y="11010"/>
                </a:lnTo>
              </a:path>
            </a:pathLst>
          </a:cu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4679" y="4261104"/>
            <a:ext cx="40385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18181B"/>
                </a:solidFill>
                <a:latin typeface="Calibri"/>
              </a:defRPr>
            </a:pPr>
            <a:r>
              <a:t>Vibrant mineral pigment murals depicting Buddhist cosmologies</a:t>
            </a:r>
          </a:p>
        </p:txBody>
      </p:sp>
      <p:sp>
        <p:nvSpPr>
          <p:cNvPr id="23" name="Oval 22"/>
          <p:cNvSpPr/>
          <p:nvPr/>
        </p:nvSpPr>
        <p:spPr>
          <a:xfrm>
            <a:off x="5894831" y="4027931"/>
            <a:ext cx="402336" cy="402336"/>
          </a:xfrm>
          <a:prstGeom prst="ellipse">
            <a:avLst/>
          </a:prstGeom>
          <a:solidFill>
            <a:srgbClr val="FAF8F5"/>
          </a:solidFill>
          <a:ln w="12700">
            <a:solidFill>
              <a:srgbClr val="E5E0D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C25E38"/>
                </a:solidFill>
                <a:latin typeface="Georgia"/>
              </a:defRPr>
            </a:pPr>
            <a:r>
              <a:t>VS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578608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25E3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C25E38"/>
                </a:solidFill>
                <a:latin typeface="Georgia"/>
              </a:defRPr>
            </a:pPr>
            <a:r>
              <a:t>SYNTHESIS &amp; REFLECTION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18181B"/>
                </a:solidFill>
                <a:latin typeface="Georgia"/>
              </a:defRPr>
            </a:pPr>
            <a:r>
              <a:t>The Fabric of Cultural Synergy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57534E"/>
                </a:solidFill>
                <a:latin typeface="Calibri"/>
              </a:defRPr>
            </a:pPr>
            <a:r>
              <a:t>Understanding how diverse geographies shape human expression and collective memory.</a:t>
            </a:r>
          </a:p>
        </p:txBody>
      </p:sp>
      <p:sp>
        <p:nvSpPr>
          <p:cNvPr id="5" name="!!quote_card"/>
          <p:cNvSpPr/>
          <p:nvPr/>
        </p:nvSpPr>
        <p:spPr>
          <a:xfrm>
            <a:off x="822960" y="2194560"/>
            <a:ext cx="10546079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8">
                <a:alpha val="60000"/>
              </a:srgbClr>
            </a:solidFill>
          </a:ln>
          <a:effectLst>
            <a:outerShdw blurRad="152400" dist="50800" dir="54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3774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7200" b="1">
                <a:solidFill>
                  <a:srgbClr val="C25E38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108960"/>
            <a:ext cx="90830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2200" b="0">
                <a:solidFill>
                  <a:srgbClr val="18181B"/>
                </a:solidFill>
                <a:latin typeface="Georgia"/>
              </a:defRPr>
            </a:pPr>
            <a:r>
              <a:t>"Despite thousands of miles of geographical separation—from the salt breezes of the Arabian Sea to the snow-crested peaks of Kanchenjunga—both cultures preserve their history through rhythmic movement, communal feast lore, and sacred architecture."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754880"/>
            <a:ext cx="908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C25E38"/>
                </a:solidFill>
                <a:latin typeface="Georgia"/>
              </a:defRPr>
            </a:pPr>
            <a:r>
              <a:t>— Art-Integrated Learning Project,  CBSE National Curriculum Integration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