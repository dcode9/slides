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4114800" cy="4114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  <a:effectLst>
            <a:outerShdw blurRad="304800" dist="0" dir="5400000" algn="ctr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288036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EXECUTIVE BRIEFING • 2026</a:t>
            </a:r>
          </a:p>
        </p:txBody>
      </p:sp>
      <p:sp>
        <p:nvSpPr>
          <p:cNvPr id="4" name="!!hero_title"/>
          <p:cNvSpPr txBox="1"/>
          <p:nvPr/>
        </p:nvSpPr>
        <p:spPr>
          <a:xfrm>
            <a:off x="822960" y="219456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4400" b="1">
                <a:solidFill>
                  <a:srgbClr val="F8FAFC"/>
                </a:solidFill>
                <a:latin typeface="Segoe UI"/>
              </a:defRPr>
            </a:pPr>
            <a:r>
              <a:t>Next-gen frontier ai agent architectures</a:t>
            </a:r>
          </a:p>
        </p:txBody>
      </p:sp>
      <p:sp>
        <p:nvSpPr>
          <p:cNvPr id="5" name="!!hero_subtitle"/>
          <p:cNvSpPr txBox="1"/>
          <p:nvPr/>
        </p:nvSpPr>
        <p:spPr>
          <a:xfrm>
            <a:off x="822960" y="37490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Strategic overview, architecture, and quantitative milestones for next-gen frontier ai agent architectures.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Antigravity Research   •   October 2026   •   CONFIDENTIAL</a:t>
            </a:r>
          </a:p>
        </p:txBody>
      </p:sp>
    </p:spTree>
  </p:cSld>
  <p:clrMapOvr>
    <a:masterClrMapping/>
  </p:clrMapOvr>
  <p:transition xmlns:p14="http://schemas.microsoft.com/office/powerpoint/2010/main" spd="slow" p14:dur="125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176272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CURRENT CHALLENGES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The Landscape of Next-gen frontier ai agent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Critical friction points identified across industry implementations.</a:t>
            </a:r>
          </a:p>
        </p:txBody>
      </p:sp>
      <p:sp>
        <p:nvSpPr>
          <p:cNvPr id="5" name="!!card_col_0"/>
          <p:cNvSpPr/>
          <p:nvPr/>
        </p:nvSpPr>
        <p:spPr>
          <a:xfrm>
            <a:off x="822960" y="2240280"/>
            <a:ext cx="3332479" cy="397763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0"/>
            <a:ext cx="269239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8FAFC"/>
                </a:solidFill>
                <a:latin typeface="Segoe UI"/>
              </a:defRPr>
            </a:pPr>
            <a:r>
              <a:t>Scale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46120"/>
            <a:ext cx="2692399" cy="2651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Throughput limits under high concurrency and distributed state coordination.</a:t>
            </a:r>
          </a:p>
        </p:txBody>
      </p:sp>
      <p:sp>
        <p:nvSpPr>
          <p:cNvPr id="8" name="!!card_col_1"/>
          <p:cNvSpPr/>
          <p:nvPr/>
        </p:nvSpPr>
        <p:spPr>
          <a:xfrm>
            <a:off x="4429759" y="2240280"/>
            <a:ext cx="3332479" cy="397763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6366F1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4079" y="2240280"/>
            <a:ext cx="2783839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9799" y="2560320"/>
            <a:ext cx="269239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8FAFC"/>
                </a:solidFill>
                <a:latin typeface="Segoe UI"/>
              </a:defRPr>
            </a:pPr>
            <a:r>
              <a:t>Data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799" y="3246120"/>
            <a:ext cx="2692399" cy="2651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Maintaining strict privacy boundaries across heterogeneous model providers.</a:t>
            </a:r>
          </a:p>
        </p:txBody>
      </p:sp>
      <p:sp>
        <p:nvSpPr>
          <p:cNvPr id="12" name="!!card_col_2"/>
          <p:cNvSpPr/>
          <p:nvPr/>
        </p:nvSpPr>
        <p:spPr>
          <a:xfrm>
            <a:off x="8036559" y="2240280"/>
            <a:ext cx="3332479" cy="3977639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6599" y="2560320"/>
            <a:ext cx="269239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F8FAFC"/>
                </a:solidFill>
                <a:latin typeface="Segoe UI"/>
              </a:defRPr>
            </a:pPr>
            <a:r>
              <a:t>Latency Overhead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599" y="3246120"/>
            <a:ext cx="2692399" cy="2651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0">
                <a:solidFill>
                  <a:srgbClr val="94A3B8"/>
                </a:solidFill>
                <a:latin typeface="Segoe UI"/>
              </a:defRPr>
            </a:pPr>
            <a:r>
              <a:t>Real-time edge synthesis requirements outpacing cloud inference latency.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2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176272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EXECUTION TIMELINE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Strategic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Four milestone phases delivering continuous value and risk reduction.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2468880"/>
            <a:ext cx="9631679" cy="3657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37181" y="2286000"/>
            <a:ext cx="402336" cy="402336"/>
          </a:xfrm>
          <a:prstGeom prst="ellipse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2430779" cy="3337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6366F1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880360"/>
            <a:ext cx="1882139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17906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39312"/>
            <a:ext cx="1790699" cy="2258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4542281" y="2286000"/>
            <a:ext cx="402336" cy="40233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8059" y="2880360"/>
            <a:ext cx="2430779" cy="3337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99" y="3200400"/>
            <a:ext cx="17906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99" y="3639312"/>
            <a:ext cx="1790699" cy="2258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7247381" y="2286000"/>
            <a:ext cx="402336" cy="40233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59" y="2880360"/>
            <a:ext cx="2430779" cy="3337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199" y="3200400"/>
            <a:ext cx="17906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199" y="3639312"/>
            <a:ext cx="1790699" cy="2258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</a:p>
        </p:txBody>
      </p:sp>
      <p:sp>
        <p:nvSpPr>
          <p:cNvPr id="19" name="Oval 18"/>
          <p:cNvSpPr/>
          <p:nvPr/>
        </p:nvSpPr>
        <p:spPr>
          <a:xfrm>
            <a:off x="9952481" y="2286000"/>
            <a:ext cx="402336" cy="402336"/>
          </a:xfrm>
          <a:prstGeom prst="ellipse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8259" y="2880360"/>
            <a:ext cx="2430779" cy="33375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8299" y="3200400"/>
            <a:ext cx="179069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F8FAFC"/>
                </a:solidFill>
                <a:latin typeface="Segoe UI"/>
              </a:defRPr>
            </a:pPr>
            <a:r>
              <a:t>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299" y="3639312"/>
            <a:ext cx="1790699" cy="2258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0 0.5 L 0 0" pts="2">
                                      <p:cBhvr smA="500" smB="500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6" grpId="0" animBg="1"/>
      <p:bldP spid="2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874519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MEASURED IMPACT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Quantified outcomes across speed, reliability, and precision benchmarks.</a:t>
            </a:r>
          </a:p>
        </p:txBody>
      </p:sp>
      <p:sp>
        <p:nvSpPr>
          <p:cNvPr id="5" name="!!metric_col_0"/>
          <p:cNvSpPr/>
          <p:nvPr/>
        </p:nvSpPr>
        <p:spPr>
          <a:xfrm>
            <a:off x="822960" y="2194560"/>
            <a:ext cx="3332479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9050">
            <a:solidFill>
              <a:srgbClr val="6366F1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514600"/>
            <a:ext cx="868680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+4.2%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971800"/>
            <a:ext cx="2692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6366F1"/>
                </a:solidFill>
                <a:latin typeface="Segoe UI"/>
              </a:defRPr>
            </a:pPr>
            <a:r>
              <a:t>99.98%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2692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RELIABILITY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160520"/>
            <a:ext cx="26923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Zero runtime unhandled exceptions</a:t>
            </a:r>
          </a:p>
        </p:txBody>
      </p:sp>
      <p:sp>
        <p:nvSpPr>
          <p:cNvPr id="10" name="!!metric_col_1"/>
          <p:cNvSpPr/>
          <p:nvPr/>
        </p:nvSpPr>
        <p:spPr>
          <a:xfrm>
            <a:off x="4429759" y="2194560"/>
            <a:ext cx="3332479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49799" y="2514600"/>
            <a:ext cx="1371600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10X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799" y="2971800"/>
            <a:ext cx="2692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F8FAFC"/>
                </a:solidFill>
                <a:latin typeface="Segoe UI"/>
              </a:defRPr>
            </a:pPr>
            <a:r>
              <a:t>&lt; 15ms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799" y="3840480"/>
            <a:ext cx="2692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COMPILE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9799" y="4160520"/>
            <a:ext cx="26923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In-memory DrawingML AST assembly</a:t>
            </a:r>
          </a:p>
        </p:txBody>
      </p:sp>
      <p:sp>
        <p:nvSpPr>
          <p:cNvPr id="15" name="!!metric_col_2"/>
          <p:cNvSpPr/>
          <p:nvPr/>
        </p:nvSpPr>
        <p:spPr>
          <a:xfrm>
            <a:off x="8036559" y="2194560"/>
            <a:ext cx="3332479" cy="34747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6599" y="2514600"/>
            <a:ext cx="1472184" cy="2743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 w="12700">
            <a:solidFill>
              <a:srgbClr val="10B98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ISO 29500-1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599" y="2971800"/>
            <a:ext cx="2692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6400" b="1">
                <a:solidFill>
                  <a:srgbClr val="F8FAFC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599" y="3840480"/>
            <a:ext cx="2692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000" b="1">
                <a:solidFill>
                  <a:srgbClr val="94A3B8"/>
                </a:solidFill>
                <a:latin typeface="Segoe UI"/>
              </a:defRPr>
            </a:pPr>
            <a:r>
              <a:t>XML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599" y="4160520"/>
            <a:ext cx="269239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Strict schema validation pass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2075688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12700">
            <a:solidFill>
              <a:srgbClr val="6366F1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6366F1"/>
                </a:solidFill>
                <a:latin typeface="Segoe UI"/>
              </a:defRPr>
            </a:pPr>
            <a:r>
              <a:t>FINAL PERSPECTIVE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8FAFC"/>
                </a:solidFill>
                <a:latin typeface="Segoe UI"/>
              </a:defRPr>
            </a:pPr>
            <a:r>
              <a:t>The Strategic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270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600" b="0">
                <a:solidFill>
                  <a:srgbClr val="94A3B8"/>
                </a:solidFill>
                <a:latin typeface="Segoe UI"/>
              </a:defRPr>
            </a:pPr>
            <a:r>
              <a:t>Guiding principles for the next era of development.</a:t>
            </a:r>
          </a:p>
        </p:txBody>
      </p:sp>
      <p:sp>
        <p:nvSpPr>
          <p:cNvPr id="5" name="!!quote_card"/>
          <p:cNvSpPr/>
          <p:nvPr/>
        </p:nvSpPr>
        <p:spPr>
          <a:xfrm>
            <a:off x="822960" y="2194560"/>
            <a:ext cx="10546079" cy="3657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7200" b="1">
                <a:solidFill>
                  <a:srgbClr val="6366F1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108960"/>
            <a:ext cx="90830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2200" b="0">
                <a:solidFill>
                  <a:srgbClr val="F8FAFC"/>
                </a:solidFill>
                <a:latin typeface="Segoe UI"/>
              </a:defRPr>
            </a:pPr>
            <a:r>
              <a:t>"Transforming next-gen frontier ai agent architectures into an ambient capability requires deterministic precision beneath creative intelligence."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4754880"/>
            <a:ext cx="908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6366F1"/>
                </a:solidFill>
                <a:latin typeface="Segoe UI"/>
              </a:defRPr>
            </a:pPr>
            <a:r>
              <a:t>— Chief Systems Architect,  Antigravity Research Group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