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1E1B4B">
                  <a:alpha val="100000"/>
                </a:srgbClr>
              </a:gs>
              <a:gs pos="100000">
                <a:srgbClr val="0F172A">
                  <a:alpha val="100000"/>
                </a:srgbClr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2286000"/>
            <a:ext cx="7315200" cy="7315200"/>
          </a:xfrm>
          <a:prstGeom prst="ellipse">
            <a:avLst/>
          </a:prstGeom>
          <a:solidFill>
            <a:srgbClr val="6366F1">
              <a:alpha val="6000"/>
            </a:srgbClr>
          </a:solidFill>
          <a:ln>
            <a:noFill/>
          </a:ln>
          <a:effectLst>
            <a:outerShdw blurRad="762000" dist="0" dir="5400000" algn="ctr" rotWithShape="0">
              <a:srgbClr val="6366F1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731520"/>
            <a:ext cx="73152" cy="7315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005840"/>
            <a:ext cx="45720" cy="457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188720"/>
            <a:ext cx="54864" cy="5486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2578608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AI PRESENTATION ENGINE</a:t>
            </a:r>
          </a:p>
        </p:txBody>
      </p:sp>
      <p:sp>
        <p:nvSpPr>
          <p:cNvPr id="8" name="!!hero_title"/>
          <p:cNvSpPr txBox="1"/>
          <p:nvPr/>
        </p:nvSpPr>
        <p:spPr>
          <a:xfrm>
            <a:off x="1371600" y="2377440"/>
            <a:ext cx="94457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8FAFC"/>
                </a:solidFill>
                <a:latin typeface="Segoe UI"/>
              </a:defRPr>
            </a:pPr>
            <a:r>
              <a:t>SlideCraft</a:t>
            </a:r>
          </a:p>
        </p:txBody>
      </p:sp>
      <p:sp>
        <p:nvSpPr>
          <p:cNvPr id="9" name="!!hero_sub"/>
          <p:cNvSpPr txBox="1"/>
          <p:nvPr/>
        </p:nvSpPr>
        <p:spPr>
          <a:xfrm>
            <a:off x="1371600" y="3520440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defRPr sz="1700" b="0">
                <a:solidFill>
                  <a:srgbClr val="94A3B8"/>
                </a:solidFill>
                <a:latin typeface="Segoe UI"/>
              </a:defRPr>
            </a:pPr>
            <a:r>
              <a:t>Native OpenXML compilation for frontier AI models.</a:t>
            </a:r>
            <a:br/>
            <a:r>
              <a:t>Zero templates. Zero repair errors. Pure DrawingML.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2286000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100000"/>
                </a:srgbClr>
              </a:gs>
              <a:gs pos="100000">
                <a:srgbClr val="38BDF8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92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Antigravity Research   ·   October 2026   ·   Opus × SlideCraft</a:t>
            </a:r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472184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AI-Generated Slides Look Like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Every tool produces the same flat, lifeless output. No containers. No hierarchy. No motion.</a:t>
            </a:r>
          </a:p>
        </p:txBody>
      </p:sp>
      <p:sp>
        <p:nvSpPr>
          <p:cNvPr id="5" name="!!problem_0"/>
          <p:cNvSpPr/>
          <p:nvPr/>
        </p:nvSpPr>
        <p:spPr>
          <a:xfrm>
            <a:off x="822960" y="2377440"/>
            <a:ext cx="3344671" cy="329184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 w="12700">
            <a:solidFill>
              <a:srgbClr val="2D3548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2796031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697480"/>
            <a:ext cx="365760" cy="365760"/>
          </a:xfrm>
          <a:prstGeom prst="ellipse">
            <a:avLst/>
          </a:prstGeom>
          <a:solidFill>
            <a:srgbClr val="2D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27045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Bare Bullet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27045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Five unstyled text lines floating on a blank white canvas. No visual grounding.</a:t>
            </a:r>
          </a:p>
        </p:txBody>
      </p:sp>
      <p:sp>
        <p:nvSpPr>
          <p:cNvPr id="10" name="!!problem_1"/>
          <p:cNvSpPr/>
          <p:nvPr/>
        </p:nvSpPr>
        <p:spPr>
          <a:xfrm>
            <a:off x="4423663" y="2377440"/>
            <a:ext cx="3344671" cy="329184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 w="12700">
            <a:solidFill>
              <a:srgbClr val="2D3548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7983" y="2377440"/>
            <a:ext cx="2796031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43703" y="2697480"/>
            <a:ext cx="365760" cy="365760"/>
          </a:xfrm>
          <a:prstGeom prst="ellipse">
            <a:avLst/>
          </a:prstGeom>
          <a:solidFill>
            <a:srgbClr val="2D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703" y="3246120"/>
            <a:ext cx="27045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Raster-Only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3703" y="3794760"/>
            <a:ext cx="27045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SVG icons crushed to 72 DPI PNGs. Blurry on 4K displays, uneditable.</a:t>
            </a:r>
          </a:p>
        </p:txBody>
      </p:sp>
      <p:sp>
        <p:nvSpPr>
          <p:cNvPr id="15" name="!!problem_2"/>
          <p:cNvSpPr/>
          <p:nvPr/>
        </p:nvSpPr>
        <p:spPr>
          <a:xfrm>
            <a:off x="8024367" y="2377440"/>
            <a:ext cx="3344671" cy="329184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 w="12700">
            <a:solidFill>
              <a:srgbClr val="2D3548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98687" y="2377440"/>
            <a:ext cx="2796031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4407" y="2697480"/>
            <a:ext cx="365760" cy="365760"/>
          </a:xfrm>
          <a:prstGeom prst="ellipse">
            <a:avLst/>
          </a:prstGeom>
          <a:solidFill>
            <a:srgbClr val="2D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407" y="3246120"/>
            <a:ext cx="27045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Zero Motion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407" y="3794760"/>
            <a:ext cx="27045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Static slide transitions. No Morph. No entrance choreography. Dead presentations.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572768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Deterministic Engine, Creative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AI decides what to say. The engine decides exactly how to render it.</a:t>
            </a:r>
          </a:p>
        </p:txBody>
      </p:sp>
      <p:sp>
        <p:nvSpPr>
          <p:cNvPr id="5" name="!!arch_hero"/>
          <p:cNvSpPr/>
          <p:nvPr/>
        </p:nvSpPr>
        <p:spPr>
          <a:xfrm>
            <a:off x="822960" y="2286000"/>
            <a:ext cx="4314138" cy="3931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4314138" cy="393192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3730A3">
                  <a:alpha val="25000"/>
                </a:srgbClr>
              </a:gs>
              <a:gs pos="100000">
                <a:srgbClr val="1E293B"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33997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38BDF8"/>
                </a:solidFill>
                <a:latin typeface="Segoe UI"/>
              </a:defRPr>
            </a:pPr>
            <a:r>
              <a:t>JSON</a:t>
            </a:r>
            <a:br/>
            <a:r>
              <a:t>→ AST</a:t>
            </a:r>
            <a:br/>
            <a:r>
              <a:t>→ 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33997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6366F1"/>
                </a:solidFill>
                <a:latin typeface="Segoe UI"/>
              </a:defRPr>
            </a:pPr>
            <a:r>
              <a:t>COMPILATION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983480"/>
            <a:ext cx="33997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Frontier models emit structured JSON. The deterministic engine compiles it into schema-valid OpenXML with zero ambiguity.</a:t>
            </a:r>
          </a:p>
        </p:txBody>
      </p:sp>
      <p:sp>
        <p:nvSpPr>
          <p:cNvPr id="10" name="!!arch_r0"/>
          <p:cNvSpPr/>
          <p:nvPr/>
        </p:nvSpPr>
        <p:spPr>
          <a:xfrm>
            <a:off x="5411418" y="2286000"/>
            <a:ext cx="5957620" cy="18516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31458" y="256032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1458" y="2971800"/>
            <a:ext cx="53175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DrawingML Vector Shapes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1458" y="3383280"/>
            <a:ext cx="53175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94A3B8"/>
                </a:solidFill>
                <a:latin typeface="Segoe UI"/>
              </a:defRPr>
            </a:pPr>
            <a:r>
              <a:t>SVG paths compiled to native &lt;a:custGeom&gt; cubic beziers. Scale to any resolution without rasterization.</a:t>
            </a:r>
          </a:p>
        </p:txBody>
      </p:sp>
      <p:sp>
        <p:nvSpPr>
          <p:cNvPr id="14" name="!!arch_r1"/>
          <p:cNvSpPr/>
          <p:nvPr/>
        </p:nvSpPr>
        <p:spPr>
          <a:xfrm>
            <a:off x="5411418" y="4366260"/>
            <a:ext cx="5957620" cy="18516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1458" y="4640580"/>
            <a:ext cx="969264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1458" y="5052060"/>
            <a:ext cx="53175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SMIL Animation Trees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1458" y="5463540"/>
            <a:ext cx="53175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150" b="0">
                <a:solidFill>
                  <a:srgbClr val="94A3B8"/>
                </a:solidFill>
                <a:latin typeface="Segoe UI"/>
              </a:defRPr>
            </a:pPr>
            <a:r>
              <a:t>Valid timing sequences with unique node IDs, correct &lt;p:cBhvr&gt; nesting, and populated &lt;p:bldLst&gt;.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BENCHMARKS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Measured, Not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Verified against Microsoft PowerPoint 16.0 Desktop via COM automation.</a:t>
            </a:r>
          </a:p>
        </p:txBody>
      </p:sp>
      <p:sp>
        <p:nvSpPr>
          <p:cNvPr id="5" name="!!m0"/>
          <p:cNvSpPr/>
          <p:nvPr/>
        </p:nvSpPr>
        <p:spPr>
          <a:xfrm>
            <a:off x="822960" y="2331720"/>
            <a:ext cx="2485643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60604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100% 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200" b="1">
                <a:solidFill>
                  <a:srgbClr val="6366F1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3360"/>
            <a:ext cx="20284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Schema</a:t>
            </a:r>
            <a:br/>
            <a:r>
              <a:t>Corruptions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5486400"/>
            <a:ext cx="2028443" cy="22860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5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1"/>
          <p:cNvSpPr/>
          <p:nvPr/>
        </p:nvSpPr>
        <p:spPr>
          <a:xfrm>
            <a:off x="3509771" y="2331720"/>
            <a:ext cx="2485643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8371" y="260604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SUB-SECOND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8371" y="310896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200" b="1">
                <a:solidFill>
                  <a:srgbClr val="F8FAFC"/>
                </a:solidFill>
                <a:latin typeface="Segoe UI"/>
              </a:defRPr>
            </a:pPr>
            <a:r>
              <a:t>12ms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8371" y="4023360"/>
            <a:ext cx="20284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Compile</a:t>
            </a:r>
            <a:br/>
            <a:r>
              <a:t>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8371" y="5486400"/>
            <a:ext cx="2028443" cy="22860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5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2"/>
          <p:cNvSpPr/>
          <p:nvPr/>
        </p:nvSpPr>
        <p:spPr>
          <a:xfrm>
            <a:off x="6196583" y="2331720"/>
            <a:ext cx="2485643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25183" y="260604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FULL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5183" y="310896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200" b="1">
                <a:solidFill>
                  <a:srgbClr val="F8FAFC"/>
                </a:solidFill>
                <a:latin typeface="Segoe UI"/>
              </a:defRPr>
            </a:pPr>
            <a:r>
              <a:t>19/19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183" y="4023360"/>
            <a:ext cx="20284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94A3B8"/>
                </a:solidFill>
                <a:latin typeface="Segoe UI"/>
              </a:defRPr>
            </a:pPr>
            <a:r>
              <a:t>Unit Tests</a:t>
            </a:r>
            <a:br/>
            <a:r>
              <a:t>Passing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5183" y="5486400"/>
            <a:ext cx="2028443" cy="2286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5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3"/>
          <p:cNvSpPr/>
          <p:nvPr/>
        </p:nvSpPr>
        <p:spPr>
          <a:xfrm>
            <a:off x="8883395" y="2331720"/>
            <a:ext cx="2485643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11995" y="260604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A78BFA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LOSSLESS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995" y="3108960"/>
            <a:ext cx="202844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5200" b="1">
                <a:solidFill>
                  <a:srgbClr val="F8FAFC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995" y="4023360"/>
            <a:ext cx="20284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94A3B8"/>
                </a:solidFill>
                <a:latin typeface="Segoe UI"/>
              </a:defRPr>
            </a:pPr>
            <a:r>
              <a:t>Vector</a:t>
            </a:r>
            <a:br/>
            <a:r>
              <a:t>Assets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1995" y="5486400"/>
            <a:ext cx="2028443" cy="22860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5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5" grpId="0" animBg="1"/>
      <p:bldP spid="2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From Prompt to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Four deterministic stages. No hallucinated coordinates. No broken XML.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679192"/>
            <a:ext cx="9814559" cy="22860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50000"/>
                </a:srgbClr>
              </a:gs>
              <a:gs pos="100000">
                <a:srgbClr val="10B981">
                  <a:alpha val="5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89759" y="25146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  <a:effectLst>
            <a:outerShdw blurRad="101600" dist="0" dir="5400000" algn="ctr" rotWithShape="0">
              <a:srgbClr val="6366F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!!step_0"/>
          <p:cNvSpPr/>
          <p:nvPr/>
        </p:nvSpPr>
        <p:spPr>
          <a:xfrm>
            <a:off x="822960" y="3108960"/>
            <a:ext cx="2499359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108960"/>
            <a:ext cx="2133599" cy="27432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19507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Semantic</a:t>
            </a:r>
            <a:br/>
            <a: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19507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LLM selects slide archetypes,</a:t>
            </a:r>
            <a:br/>
            <a:r>
              <a:t>narrative flow, and palette.</a:t>
            </a:r>
          </a:p>
        </p:txBody>
      </p:sp>
      <p:sp>
        <p:nvSpPr>
          <p:cNvPr id="11" name="Oval 10"/>
          <p:cNvSpPr/>
          <p:nvPr/>
        </p:nvSpPr>
        <p:spPr>
          <a:xfrm>
            <a:off x="4571999" y="251460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101600" dist="0" dir="5400000" algn="ctr" rotWithShape="0">
              <a:srgbClr val="38BDF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!!step_1"/>
          <p:cNvSpPr/>
          <p:nvPr/>
        </p:nvSpPr>
        <p:spPr>
          <a:xfrm>
            <a:off x="3505199" y="3108960"/>
            <a:ext cx="2499359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88079" y="3108960"/>
            <a:ext cx="2133599" cy="27432"/>
          </a:xfrm>
          <a:prstGeom prst="rect">
            <a:avLst/>
          </a:prstGeom>
          <a:gradFill flip="none" rotWithShape="1">
            <a:gsLst>
              <a:gs pos="0">
                <a:srgbClr val="38BDF8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9519" y="3429000"/>
            <a:ext cx="19507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Asset</a:t>
            </a:r>
            <a:br/>
            <a:r>
              <a:t>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19" y="4206240"/>
            <a:ext cx="19507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Image, SVG, and text models</a:t>
            </a:r>
            <a:br/>
            <a:r>
              <a:t>generate raw content.</a:t>
            </a:r>
          </a:p>
        </p:txBody>
      </p:sp>
      <p:sp>
        <p:nvSpPr>
          <p:cNvPr id="16" name="Oval 15"/>
          <p:cNvSpPr/>
          <p:nvPr/>
        </p:nvSpPr>
        <p:spPr>
          <a:xfrm>
            <a:off x="7254239" y="251460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101600" dist="0" dir="5400000" algn="ctr" rotWithShape="0">
              <a:srgbClr val="A78BFA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!!step_2"/>
          <p:cNvSpPr/>
          <p:nvPr/>
        </p:nvSpPr>
        <p:spPr>
          <a:xfrm>
            <a:off x="6187439" y="3108960"/>
            <a:ext cx="2499359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0319" y="3108960"/>
            <a:ext cx="2133599" cy="27432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759" y="3429000"/>
            <a:ext cx="19507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Layout</a:t>
            </a:r>
            <a:br/>
            <a:r>
              <a:t>Solver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59" y="4206240"/>
            <a:ext cx="19507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EMU coordinate calculator</a:t>
            </a:r>
            <a:br/>
            <a:r>
              <a:t>resolves exact positions.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9936479" y="25146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101600" dist="0" dir="5400000" algn="ctr" rotWithShape="0">
              <a:srgbClr val="10B98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!!step_3"/>
          <p:cNvSpPr/>
          <p:nvPr/>
        </p:nvSpPr>
        <p:spPr>
          <a:xfrm>
            <a:off x="8869679" y="3108960"/>
            <a:ext cx="2499359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3108960"/>
            <a:ext cx="2133599" cy="27432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80000"/>
                </a:srgbClr>
              </a:gs>
              <a:gs pos="100000">
                <a:srgbClr val="1E293B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3999" y="3429000"/>
            <a:ext cx="19507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700" b="1">
                <a:solidFill>
                  <a:srgbClr val="F8FAFC"/>
                </a:solidFill>
                <a:latin typeface="Segoe UI"/>
              </a:defRPr>
            </a:pPr>
            <a:r>
              <a:t>XML</a:t>
            </a:r>
            <a:br/>
            <a:r>
              <a:t>Packager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4206240"/>
            <a:ext cx="195071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Streams DrawingML + OPC</a:t>
            </a:r>
            <a:br/>
            <a:r>
              <a:t>into valid .pptx ZIP.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  <p:bldP spid="2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1E1B4B">
                  <a:alpha val="100000"/>
                </a:srgbClr>
              </a:gs>
              <a:gs pos="100000">
                <a:srgbClr val="0F172A">
                  <a:alpha val="100000"/>
                </a:srgbClr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6400800" cy="5029200"/>
          </a:xfrm>
          <a:prstGeom prst="ellipse">
            <a:avLst/>
          </a:prstGeom>
          <a:solidFill>
            <a:srgbClr val="6366F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27632" y="1353312"/>
            <a:ext cx="8933688" cy="4151376"/>
          </a:xfrm>
          <a:prstGeom prst="roundRect">
            <a:avLst>
              <a:gd name="adj" fmla="val 6000"/>
            </a:avLst>
          </a:prstGeom>
          <a:solidFill>
            <a:srgbClr val="1E1B4B">
              <a:alpha val="30000"/>
            </a:srgbClr>
          </a:solidFill>
          <a:ln w="63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lose_card"/>
          <p:cNvSpPr/>
          <p:nvPr/>
        </p:nvSpPr>
        <p:spPr>
          <a:xfrm>
            <a:off x="1645920" y="1371600"/>
            <a:ext cx="8897112" cy="4114800"/>
          </a:xfrm>
          <a:prstGeom prst="roundRect">
            <a:avLst>
              <a:gd name="adj" fmla="val 6000"/>
            </a:avLst>
          </a:prstGeom>
          <a:solidFill>
            <a:srgbClr val="151D30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8000" b="1">
                <a:solidFill>
                  <a:srgbClr val="6366F1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423160"/>
            <a:ext cx="761695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defRPr sz="2200" b="0">
                <a:solidFill>
                  <a:srgbClr val="F8FAFC"/>
                </a:solidFill>
                <a:latin typeface="Segoe UI"/>
              </a:defRPr>
            </a:pPr>
            <a:r>
              <a:t>The best presentation tool is one that disappears.</a:t>
            </a:r>
            <a:br/>
            <a:r>
              <a:t>You think about what you want to communicate,</a:t>
            </a:r>
            <a:br/>
            <a:r>
              <a:t>and it appears — native, editable, beautiful.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297680"/>
            <a:ext cx="1371600" cy="22860"/>
          </a:xfrm>
          <a:prstGeom prst="rect">
            <a:avLst/>
          </a:prstGeom>
          <a:gradFill flip="none" rotWithShape="1">
            <a:gsLst>
              <a:gs pos="0">
                <a:srgbClr val="6366F1">
                  <a:alpha val="100000"/>
                </a:srgbClr>
              </a:gs>
              <a:gs pos="100000">
                <a:srgbClr val="38BDF8">
                  <a:alpha val="10000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526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Opus × SlideCraft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Antigravity Advanced Agentic Systems   ·   October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