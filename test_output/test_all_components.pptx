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594360"/>
            <a:ext cx="1472184" cy="274320"/>
          </a:xfrm>
          <a:prstGeom prst="roundRect">
            <a:avLst>
              <a:gd name="adj" fmla="val 25000"/>
            </a:avLst>
          </a:prstGeom>
          <a:solidFill>
            <a:srgbClr val="121826"/>
          </a:solidFill>
          <a:ln w="12700">
            <a:solidFill>
              <a:srgbClr val="00F0FF">
                <a:alpha val="5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36576" bIns="36576"/>
          <a:lstStyle/>
          <a:p>
            <a:pPr algn="ctr">
              <a:defRPr sz="1000" b="1">
                <a:solidFill>
                  <a:srgbClr val="00F0FF"/>
                </a:solidFill>
                <a:latin typeface="Segoe UI"/>
              </a:defRPr>
            </a:pPr>
            <a:r>
              <a:t>TESTIMONIAL</a:t>
            </a:r>
          </a:p>
        </p:txBody>
      </p:sp>
      <p:sp>
        <p:nvSpPr>
          <p:cNvPr id="3" name="!!header_title"/>
          <p:cNvSpPr txBox="1"/>
          <p:nvPr/>
        </p:nvSpPr>
        <p:spPr>
          <a:xfrm>
            <a:off x="822960" y="96012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defRPr sz="3000" b="1">
                <a:solidFill>
                  <a:srgbClr val="F9FAFB"/>
                </a:solidFill>
                <a:latin typeface="Segoe UI"/>
              </a:defRPr>
            </a:pPr>
            <a:r>
              <a:t>Customer Voice</a:t>
            </a:r>
          </a:p>
        </p:txBody>
      </p:sp>
      <p:sp>
        <p:nvSpPr>
          <p:cNvPr id="4" name="!!quote_card"/>
          <p:cNvSpPr/>
          <p:nvPr/>
        </p:nvSpPr>
        <p:spPr>
          <a:xfrm>
            <a:off x="822960" y="2194560"/>
            <a:ext cx="10546079" cy="3657600"/>
          </a:xfrm>
          <a:prstGeom prst="roundRect">
            <a:avLst>
              <a:gd name="adj" fmla="val 6000"/>
            </a:avLst>
          </a:prstGeom>
          <a:solidFill>
            <a:srgbClr val="121826"/>
          </a:solidFill>
          <a:ln w="12700">
            <a:solidFill>
              <a:srgbClr val="1F293D">
                <a:alpha val="40000"/>
              </a:srgbClr>
            </a:solidFill>
          </a:ln>
          <a:effectLst>
            <a:outerShdw blurRad="152400" dist="50800" dir="5400000" algn="ctr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554480" y="2377440"/>
            <a:ext cx="9144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defRPr sz="7200" b="1">
                <a:solidFill>
                  <a:srgbClr val="00F0FF"/>
                </a:solidFill>
                <a:latin typeface="Georgia"/>
              </a:defRPr>
            </a:pPr>
            <a:r>
              <a:t>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3108960"/>
            <a:ext cx="9083039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defRPr sz="2200" b="0">
                <a:solidFill>
                  <a:srgbClr val="F9FAFB"/>
                </a:solidFill>
                <a:latin typeface="Segoe UI"/>
              </a:defRPr>
            </a:pPr>
            <a:r>
              <a:t>"SlideCraft is completely redefining our presentation engineering workflow."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4754880"/>
            <a:ext cx="908303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defRPr sz="1350" b="1">
                <a:solidFill>
                  <a:srgbClr val="00F0FF"/>
                </a:solidFill>
                <a:latin typeface="Segoe UI"/>
              </a:defRPr>
            </a:pPr>
            <a:r>
              <a:t>— Jordan Matthews,  Chief Technology Officer</a:t>
            </a:r>
          </a:p>
        </p:txBody>
      </p:sp>
    </p:spTree>
  </p:cSld>
  <p:clrMapOvr>
    <a:masterClrMapping/>
  </p:clrMapOvr>
  <p:transition xmlns:p14="http://schemas.microsoft.com/office/powerpoint/2010/main" spd="slow" p14:dur="8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