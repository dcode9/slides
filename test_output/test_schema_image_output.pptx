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1874519" cy="2743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25E38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C25E38"/>
                </a:solidFill>
                <a:latin typeface="Georgia"/>
              </a:defRPr>
            </a:pPr>
            <a:r>
              <a:t>VISUAL SHOWCASE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18181B"/>
                </a:solidFill>
                <a:latin typeface="Georgia"/>
              </a:defRPr>
            </a:pPr>
            <a:r>
              <a:t>Himalayan Vistas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27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57534E"/>
                </a:solidFill>
                <a:latin typeface="Calibri"/>
              </a:defRPr>
            </a:pPr>
            <a:r>
              <a:t>Natural landscape and biodiversity of Sikkim.</a:t>
            </a:r>
          </a:p>
        </p:txBody>
      </p:sp>
      <p:pic>
        <p:nvPicPr>
          <p:cNvPr id="5" name="Picture 4" descr="sikkim_landsca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0280"/>
            <a:ext cx="6858000" cy="3931920"/>
          </a:xfrm>
          <a:prstGeom prst="rect">
            <a:avLst/>
          </a:prstGeom>
          <a:ln w="12700">
            <a:solidFill>
              <a:srgbClr val="E5E0D8">
                <a:alpha val="50000"/>
              </a:srgbClr>
            </a:solidFill>
          </a:ln>
          <a:effectLst>
            <a:outerShdw blurRad="152400" dist="50800" dir="5400000" algn="ctr" rotWithShape="0">
              <a:srgbClr val="000000">
                <a:alpha val="8000"/>
              </a:srgbClr>
            </a:outerShdw>
          </a:effectLst>
        </p:spPr>
      </p:pic>
      <p:sp>
        <p:nvSpPr>
          <p:cNvPr id="6" name="Rounded Rectangle 5"/>
          <p:cNvSpPr/>
          <p:nvPr/>
        </p:nvSpPr>
        <p:spPr>
          <a:xfrm>
            <a:off x="8046720" y="2240280"/>
            <a:ext cx="3322319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0D8">
                <a:alpha val="60000"/>
              </a:srgbClr>
            </a:solidFill>
          </a:ln>
          <a:effectLst>
            <a:outerShdw blurRad="152400" dist="50800" dir="5400000" algn="ctr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2560320"/>
            <a:ext cx="2682239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350" b="0">
                <a:solidFill>
                  <a:srgbClr val="57534E"/>
                </a:solidFill>
                <a:latin typeface="Calibri"/>
              </a:defRPr>
            </a:pPr>
            <a:r>
              <a:t>Kanchenjunga and surrounding glacial ranges captured at sunrise.</a:t>
            </a:r>
          </a:p>
        </p:txBody>
      </p:sp>
    </p:spTree>
  </p:cSld>
  <p:clrMapOvr>
    <a:masterClrMapping/>
  </p:clrMapOvr>
  <p:transition xmlns:p14="http://schemas.microsoft.com/office/powerpoint/2010/main" spd="slow" p14:dur="125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