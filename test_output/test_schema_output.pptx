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121826"/>
          </a:solidFill>
          <a:ln w="12700">
            <a:solidFill>
              <a:srgbClr val="00F0FF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2075688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DEMO PRESENTATION</a:t>
            </a:r>
          </a:p>
        </p:txBody>
      </p:sp>
      <p:sp>
        <p:nvSpPr>
          <p:cNvPr id="4" name="!!hero_title"/>
          <p:cNvSpPr txBox="1"/>
          <p:nvPr/>
        </p:nvSpPr>
        <p:spPr>
          <a:xfrm>
            <a:off x="822960" y="21945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F9FAFB"/>
                </a:solidFill>
                <a:latin typeface="Segoe UI"/>
              </a:defRPr>
            </a:pPr>
            <a:r>
              <a:t>Frontier AI Deck</a:t>
            </a:r>
          </a:p>
        </p:txBody>
      </p:sp>
      <p:sp>
        <p:nvSpPr>
          <p:cNvPr id="5" name="!!hero_subtitle"/>
          <p:cNvSpPr txBox="1"/>
          <p:nvPr/>
        </p:nvSpPr>
        <p:spPr>
          <a:xfrm>
            <a:off x="822960" y="37490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Generated via declarative SlideCraft JSON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Antigravity Agent   •   2026</a:t>
            </a:r>
          </a:p>
        </p:txBody>
      </p:sp>
    </p:spTree>
  </p:cSld>
  <p:clrMapOvr>
    <a:masterClrMapping/>
  </p:clrMapOvr>
  <p:transition xmlns:p14="http://schemas.microsoft.com/office/powerpoint/2010/main" spd="slow" p14:dur="12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BENCHMARKS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Throughput &amp;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Production benchmark statistics.</a:t>
            </a:r>
          </a:p>
        </p:txBody>
      </p:sp>
      <p:sp>
        <p:nvSpPr>
          <p:cNvPr id="5" name="!!metric_col_0"/>
          <p:cNvSpPr/>
          <p:nvPr/>
        </p:nvSpPr>
        <p:spPr>
          <a:xfrm>
            <a:off x="822960" y="2194560"/>
            <a:ext cx="51358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2000" y="22000"/>
                  <a:pt x="20000" y="18000"/>
                  <a:pt x="20000" y="12000"/>
                </a:cubicBezTo>
                <a:lnTo>
                  <a:pt x="20000" y="5000"/>
                </a:lnTo>
                <a:lnTo>
                  <a:pt x="12000" y="2000"/>
                </a:lnTo>
                <a:lnTo>
                  <a:pt x="4000" y="5000"/>
                </a:lnTo>
                <a:lnTo>
                  <a:pt x="4000" y="12000"/>
                </a:lnTo>
                <a:cubicBezTo>
                  <a:pt x="4000" y="18000"/>
                  <a:pt x="12000" y="22000"/>
                  <a:pt x="12000" y="2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879" y="2514600"/>
            <a:ext cx="768096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+15%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44957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480"/>
            <a:ext cx="44957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VECTOR QUALITY</a:t>
            </a:r>
          </a:p>
        </p:txBody>
      </p:sp>
      <p:sp>
        <p:nvSpPr>
          <p:cNvPr id="11" name="!!metric_col_1"/>
          <p:cNvSpPr/>
          <p:nvPr/>
        </p:nvSpPr>
        <p:spPr>
          <a:xfrm>
            <a:off x="6233159" y="2194560"/>
            <a:ext cx="51358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7187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3199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3000" y="2000"/>
                </a:moveTo>
                <a:lnTo>
                  <a:pt x="3000" y="14000"/>
                </a:lnTo>
                <a:lnTo>
                  <a:pt x="12000" y="14000"/>
                </a:lnTo>
                <a:lnTo>
                  <a:pt x="11000" y="22000"/>
                </a:lnTo>
                <a:lnTo>
                  <a:pt x="21000" y="10000"/>
                </a:lnTo>
                <a:lnTo>
                  <a:pt x="12000" y="10000"/>
                </a:lnTo>
                <a:lnTo>
                  <a:pt x="13000" y="2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03079" y="2514600"/>
            <a:ext cx="1069848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199" y="2971800"/>
            <a:ext cx="44957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9FAFB"/>
                </a:solidFill>
                <a:latin typeface="Segoe UI"/>
              </a:defRPr>
            </a:pPr>
            <a:r>
              <a:t>12ms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199" y="3840480"/>
            <a:ext cx="44957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COMPILE LATENCY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572768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Bento Grid Capabilities</a:t>
            </a:r>
          </a:p>
        </p:txBody>
      </p:sp>
      <p:sp>
        <p:nvSpPr>
          <p:cNvPr id="4" name="!!bento_hero"/>
          <p:cNvSpPr/>
          <p:nvPr/>
        </p:nvSpPr>
        <p:spPr>
          <a:xfrm>
            <a:off x="822960" y="2194560"/>
            <a:ext cx="4519573" cy="40233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close/>
                <a:moveTo>
                  <a:pt x="12000" y="15000"/>
                </a:moveTo>
                <a:lnTo>
                  <a:pt x="9000" y="12000"/>
                </a:ln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8950" y="13000"/>
                </a:cubicBezTo>
                <a:cubicBezTo>
                  <a:pt x="17701" y="13793"/>
                  <a:pt x="16379" y="14463"/>
                  <a:pt x="15000" y="15000"/>
                </a:cubicBezTo>
                <a:close/>
                <a:moveTo>
                  <a:pt x="9000" y="18000"/>
                </a:moveTo>
                <a:lnTo>
                  <a:pt x="12000" y="21000"/>
                </a:lnTo>
                <a:moveTo>
                  <a:pt x="5000" y="9000"/>
                </a:moveTo>
                <a:lnTo>
                  <a:pt x="8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387949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4.8x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38794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FASTER RHYTHMS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38794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Asymmetric Bento layout.</a:t>
            </a:r>
          </a:p>
        </p:txBody>
      </p:sp>
      <p:sp>
        <p:nvSpPr>
          <p:cNvPr id="10" name="!!bento_card_top"/>
          <p:cNvSpPr/>
          <p:nvPr/>
        </p:nvSpPr>
        <p:spPr>
          <a:xfrm>
            <a:off x="5616853" y="219456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27165" y="24048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36893" y="25146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9500" y="2000"/>
                </a:moveTo>
                <a:cubicBezTo>
                  <a:pt x="10881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1997" y="20793"/>
                  <a:pt x="11009" y="21871"/>
                  <a:pt x="9721" y="21985"/>
                </a:cubicBezTo>
                <a:cubicBezTo>
                  <a:pt x="8433" y="22099"/>
                  <a:pt x="7270" y="21212"/>
                  <a:pt x="7040" y="19940"/>
                </a:cubicBezTo>
                <a:cubicBezTo>
                  <a:pt x="6188" y="20130"/>
                  <a:pt x="5299" y="19861"/>
                  <a:pt x="4694" y="19232"/>
                </a:cubicBezTo>
                <a:cubicBezTo>
                  <a:pt x="4089" y="18603"/>
                  <a:pt x="3857" y="17704"/>
                  <a:pt x="4080" y="16860"/>
                </a:cubicBezTo>
                <a:cubicBezTo>
                  <a:pt x="2903" y="16482"/>
                  <a:pt x="2078" y="15420"/>
                  <a:pt x="2003" y="14186"/>
                </a:cubicBezTo>
                <a:cubicBezTo>
                  <a:pt x="1928" y="12952"/>
                  <a:pt x="2617" y="11798"/>
                  <a:pt x="3740" y="11280"/>
                </a:cubicBezTo>
                <a:cubicBezTo>
                  <a:pt x="3075" y="10623"/>
                  <a:pt x="2832" y="9651"/>
                  <a:pt x="3110" y="8758"/>
                </a:cubicBezTo>
                <a:cubicBezTo>
                  <a:pt x="3388" y="7866"/>
                  <a:pt x="4140" y="7203"/>
                  <a:pt x="5060" y="7040"/>
                </a:cubicBezTo>
                <a:cubicBezTo>
                  <a:pt x="3668" y="5814"/>
                  <a:pt x="3534" y="3692"/>
                  <a:pt x="4760" y="2300"/>
                </a:cubicBezTo>
                <a:cubicBezTo>
                  <a:pt x="5986" y="908"/>
                  <a:pt x="8108" y="774"/>
                  <a:pt x="9500" y="2000"/>
                </a:cubicBezTo>
                <a:close/>
                <a:moveTo>
                  <a:pt x="14500" y="2000"/>
                </a:moveTo>
                <a:cubicBezTo>
                  <a:pt x="13119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2003" y="20793"/>
                  <a:pt x="12991" y="21871"/>
                  <a:pt x="14279" y="21985"/>
                </a:cubicBezTo>
                <a:cubicBezTo>
                  <a:pt x="15567" y="22099"/>
                  <a:pt x="16730" y="21212"/>
                  <a:pt x="16960" y="19940"/>
                </a:cubicBezTo>
                <a:cubicBezTo>
                  <a:pt x="17812" y="20130"/>
                  <a:pt x="18701" y="19861"/>
                  <a:pt x="19306" y="19232"/>
                </a:cubicBezTo>
                <a:cubicBezTo>
                  <a:pt x="19911" y="18603"/>
                  <a:pt x="20143" y="17704"/>
                  <a:pt x="19920" y="16860"/>
                </a:cubicBezTo>
                <a:cubicBezTo>
                  <a:pt x="21097" y="16482"/>
                  <a:pt x="21922" y="15420"/>
                  <a:pt x="21997" y="14186"/>
                </a:cubicBezTo>
                <a:cubicBezTo>
                  <a:pt x="22072" y="12952"/>
                  <a:pt x="21383" y="11798"/>
                  <a:pt x="20260" y="11280"/>
                </a:cubicBezTo>
                <a:cubicBezTo>
                  <a:pt x="20925" y="10623"/>
                  <a:pt x="21168" y="9651"/>
                  <a:pt x="20890" y="8758"/>
                </a:cubicBezTo>
                <a:cubicBezTo>
                  <a:pt x="20612" y="7866"/>
                  <a:pt x="19860" y="7203"/>
                  <a:pt x="18940" y="7040"/>
                </a:cubicBezTo>
                <a:cubicBezTo>
                  <a:pt x="20332" y="5814"/>
                  <a:pt x="20466" y="3692"/>
                  <a:pt x="19240" y="2300"/>
                </a:cubicBezTo>
                <a:cubicBezTo>
                  <a:pt x="18014" y="908"/>
                  <a:pt x="15892" y="774"/>
                  <a:pt x="14500" y="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36893" y="3108960"/>
            <a:ext cx="511210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Component A</a:t>
            </a:r>
          </a:p>
        </p:txBody>
      </p:sp>
      <p:sp>
        <p:nvSpPr>
          <p:cNvPr id="14" name="!!bento_card_bot"/>
          <p:cNvSpPr/>
          <p:nvPr/>
        </p:nvSpPr>
        <p:spPr>
          <a:xfrm>
            <a:off x="5616853" y="434340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7165" y="455371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6893" y="4663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lnTo>
                  <a:pt x="13912" y="8885"/>
                </a:lnTo>
                <a:lnTo>
                  <a:pt x="20000" y="10800"/>
                </a:lnTo>
                <a:lnTo>
                  <a:pt x="15146" y="14530"/>
                </a:lnTo>
                <a:lnTo>
                  <a:pt x="17000" y="20600"/>
                </a:lnTo>
                <a:lnTo>
                  <a:pt x="12000" y="16854"/>
                </a:lnTo>
                <a:lnTo>
                  <a:pt x="7000" y="20600"/>
                </a:lnTo>
                <a:lnTo>
                  <a:pt x="8854" y="14530"/>
                </a:lnTo>
                <a:lnTo>
                  <a:pt x="4000" y="10800"/>
                </a:lnTo>
                <a:lnTo>
                  <a:pt x="10088" y="8885"/>
                </a:lnTo>
                <a:lnTo>
                  <a:pt x="12000" y="3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6893" y="5257800"/>
            <a:ext cx="511210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Component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069848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PILLARS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Core Technical Pillars</a:t>
            </a:r>
          </a:p>
        </p:txBody>
      </p:sp>
      <p:sp>
        <p:nvSpPr>
          <p:cNvPr id="4" name="!!card_col_0"/>
          <p:cNvSpPr/>
          <p:nvPr/>
        </p:nvSpPr>
        <p:spPr>
          <a:xfrm>
            <a:off x="822960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" y="245059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5603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6923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Pillar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93592"/>
            <a:ext cx="2692399" cy="2304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Custom geometry.</a:t>
            </a:r>
          </a:p>
        </p:txBody>
      </p:sp>
      <p:sp>
        <p:nvSpPr>
          <p:cNvPr id="9" name="!!card_col_1"/>
          <p:cNvSpPr/>
          <p:nvPr/>
        </p:nvSpPr>
        <p:spPr>
          <a:xfrm>
            <a:off x="4429759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0071" y="245059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49799" y="25603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lnTo>
                  <a:pt x="13912" y="8885"/>
                </a:lnTo>
                <a:lnTo>
                  <a:pt x="20000" y="10800"/>
                </a:lnTo>
                <a:lnTo>
                  <a:pt x="15146" y="14530"/>
                </a:lnTo>
                <a:lnTo>
                  <a:pt x="17000" y="20600"/>
                </a:lnTo>
                <a:lnTo>
                  <a:pt x="12000" y="16854"/>
                </a:lnTo>
                <a:lnTo>
                  <a:pt x="7000" y="20600"/>
                </a:lnTo>
                <a:lnTo>
                  <a:pt x="8854" y="14530"/>
                </a:lnTo>
                <a:lnTo>
                  <a:pt x="4000" y="10800"/>
                </a:lnTo>
                <a:lnTo>
                  <a:pt x="10088" y="8885"/>
                </a:lnTo>
                <a:lnTo>
                  <a:pt x="12000" y="3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9799" y="3154680"/>
            <a:ext cx="26923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Pillar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799" y="3593592"/>
            <a:ext cx="2692399" cy="2304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OpenXML Morph.</a:t>
            </a:r>
          </a:p>
        </p:txBody>
      </p:sp>
      <p:sp>
        <p:nvSpPr>
          <p:cNvPr id="14" name="!!card_col_2"/>
          <p:cNvSpPr/>
          <p:nvPr/>
        </p:nvSpPr>
        <p:spPr>
          <a:xfrm>
            <a:off x="8036559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6871" y="245059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6599" y="25603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lose/>
                <a:moveTo>
                  <a:pt x="12000" y="8000"/>
                </a:moveTo>
                <a:lnTo>
                  <a:pt x="12000" y="13000"/>
                </a:lnTo>
                <a:lnTo>
                  <a:pt x="15500" y="15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599" y="3154680"/>
            <a:ext cx="26923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Pillar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599" y="3593592"/>
            <a:ext cx="2692399" cy="2304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SMIL Timing.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069848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Release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468880"/>
            <a:ext cx="9631679" cy="36576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89731" y="2286000"/>
            <a:ext cx="402336" cy="402336"/>
          </a:xfrm>
          <a:prstGeom prst="ellipse">
            <a:avLst/>
          </a:prstGeom>
          <a:solidFill>
            <a:srgbClr val="00F0F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090D1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358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4587239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9000" y="11000"/>
                </a:moveTo>
                <a:lnTo>
                  <a:pt x="5000" y="11000"/>
                </a:lnTo>
                <a:cubicBezTo>
                  <a:pt x="3895" y="11000"/>
                  <a:pt x="3000" y="11895"/>
                  <a:pt x="3000" y="13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9000" y="22000"/>
                </a:lnTo>
                <a:cubicBezTo>
                  <a:pt x="20105" y="22000"/>
                  <a:pt x="21000" y="21105"/>
                  <a:pt x="21000" y="20000"/>
                </a:cubicBezTo>
                <a:lnTo>
                  <a:pt x="21000" y="13000"/>
                </a:lnTo>
                <a:cubicBezTo>
                  <a:pt x="21000" y="11895"/>
                  <a:pt x="20105" y="11000"/>
                  <a:pt x="19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794760"/>
            <a:ext cx="566928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44957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99432"/>
            <a:ext cx="4495799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Core OpenXML engine.</a:t>
            </a:r>
          </a:p>
        </p:txBody>
      </p:sp>
      <p:sp>
        <p:nvSpPr>
          <p:cNvPr id="13" name="Oval 12"/>
          <p:cNvSpPr/>
          <p:nvPr/>
        </p:nvSpPr>
        <p:spPr>
          <a:xfrm>
            <a:off x="8599931" y="2286000"/>
            <a:ext cx="402336" cy="402336"/>
          </a:xfrm>
          <a:prstGeom prst="ellipse">
            <a:avLst/>
          </a:prstGeom>
          <a:solidFill>
            <a:srgbClr val="1218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9FAF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159" y="2880360"/>
            <a:ext cx="51358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3471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3199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2000" y="2000"/>
                </a:moveTo>
                <a:cubicBezTo>
                  <a:pt x="9000" y="2000"/>
                  <a:pt x="7000" y="6500"/>
                  <a:pt x="7000" y="12000"/>
                </a:cubicBezTo>
                <a:cubicBezTo>
                  <a:pt x="7000" y="17500"/>
                  <a:pt x="9000" y="22000"/>
                  <a:pt x="12000" y="22000"/>
                </a:cubicBezTo>
                <a:cubicBezTo>
                  <a:pt x="15000" y="22000"/>
                  <a:pt x="17000" y="17500"/>
                  <a:pt x="17000" y="12000"/>
                </a:cubicBezTo>
                <a:cubicBezTo>
                  <a:pt x="17000" y="6500"/>
                  <a:pt x="15000" y="2000"/>
                  <a:pt x="12000" y="2000"/>
                </a:cubicBezTo>
                <a:close/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3199" y="3794760"/>
            <a:ext cx="566928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4160520"/>
            <a:ext cx="44957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Bento &amp; Morph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199" y="4846320"/>
            <a:ext cx="44957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Visual components.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Legacy PPT vs SlideCraft</a:t>
            </a:r>
          </a:p>
        </p:txBody>
      </p:sp>
      <p:sp>
        <p:nvSpPr>
          <p:cNvPr id="4" name="!!comp_left"/>
          <p:cNvSpPr/>
          <p:nvPr/>
        </p:nvSpPr>
        <p:spPr>
          <a:xfrm>
            <a:off x="822960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560320"/>
            <a:ext cx="969264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94A3B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Legacy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Unformatted bullet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Default templates</a:t>
            </a:r>
          </a:p>
        </p:txBody>
      </p:sp>
      <p:sp>
        <p:nvSpPr>
          <p:cNvPr id="11" name="!!comp_right"/>
          <p:cNvSpPr/>
          <p:nvPr/>
        </p:nvSpPr>
        <p:spPr>
          <a:xfrm>
            <a:off x="6278879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2286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44639" y="256032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FRONTIER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639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SlideCraft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44639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4679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Bento grid layouts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4639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4679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Native Morph transitions</a:t>
            </a:r>
          </a:p>
        </p:txBody>
      </p:sp>
      <p:sp>
        <p:nvSpPr>
          <p:cNvPr id="18" name="Oval 17"/>
          <p:cNvSpPr/>
          <p:nvPr/>
        </p:nvSpPr>
        <p:spPr>
          <a:xfrm>
            <a:off x="5894831" y="4027931"/>
            <a:ext cx="402336" cy="402336"/>
          </a:xfrm>
          <a:prstGeom prst="ellipse">
            <a:avLst/>
          </a:prstGeom>
          <a:solidFill>
            <a:srgbClr val="090D16"/>
          </a:solidFill>
          <a:ln w="12700">
            <a:solidFill>
              <a:srgbClr val="1F293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Executive Quote</a:t>
            </a:r>
          </a:p>
        </p:txBody>
      </p:sp>
      <p:sp>
        <p:nvSpPr>
          <p:cNvPr id="4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00F0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F9FAFB"/>
                </a:solidFill>
                <a:latin typeface="Segoe UI"/>
              </a:defRPr>
            </a:pPr>
            <a:r>
              <a:t>"The presentation harness allows any frontier LLM to build world-class slides."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00F0FF"/>
                </a:solidFill>
                <a:latin typeface="Segoe UI"/>
              </a:defRPr>
            </a:pPr>
            <a:r>
              <a:t>— Chief Architect,  AI Labs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